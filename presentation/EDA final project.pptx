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80" r:id="rId14"/>
    <p:sldId id="281" r:id="rId15"/>
    <p:sldId id="285" r:id="rId16"/>
    <p:sldId id="284" r:id="rId17"/>
    <p:sldId id="286" r:id="rId18"/>
    <p:sldId id="291" r:id="rId19"/>
    <p:sldId id="290" r:id="rId20"/>
    <p:sldId id="292" r:id="rId21"/>
  </p:sldIdLst>
  <p:sldSz cx="18288000" cy="10287000"/>
  <p:notesSz cx="6858000" cy="9144000"/>
  <p:embeddedFontLst>
    <p:embeddedFont>
      <p:font typeface="NanumGothic" pitchFamily="2" charset="-127"/>
      <p:regular r:id="rId23"/>
      <p:bold r:id="rId24"/>
    </p:embeddedFont>
    <p:embeddedFont>
      <p:font typeface="Noto Sans Kr" panose="020B0200000000000000" pitchFamily="34" charset="-128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7F50"/>
    <a:srgbClr val="000000"/>
    <a:srgbClr val="D7D7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25" autoAdjust="0"/>
    <p:restoredTop sz="94529" autoAdjust="0"/>
  </p:normalViewPr>
  <p:slideViewPr>
    <p:cSldViewPr>
      <p:cViewPr varScale="1">
        <p:scale>
          <a:sx n="68" d="100"/>
          <a:sy n="68" d="100"/>
        </p:scale>
        <p:origin x="264" y="8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5FD91-134A-5248-B5B7-9C60BC110FBA}" type="datetimeFigureOut">
              <a:rPr kumimoji="1" lang="ko-Kore-KR" altLang="en-US" smtClean="0"/>
              <a:t>2025. 12. 7.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D24FD-6E67-1043-BF0E-4E3743A60EA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1736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24FD-6E67-1043-BF0E-4E3743A60EAF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47052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hira.or.kr/bbsDummy.do?pgmid=HIRAA020045020000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97893" y="1394627"/>
            <a:ext cx="2692214" cy="2692214"/>
          </a:xfrm>
          <a:custGeom>
            <a:avLst/>
            <a:gdLst/>
            <a:ahLst/>
            <a:cxnLst/>
            <a:rect l="l" t="t" r="r" b="b"/>
            <a:pathLst>
              <a:path w="2692214" h="2692214">
                <a:moveTo>
                  <a:pt x="0" y="0"/>
                </a:moveTo>
                <a:lnTo>
                  <a:pt x="2692214" y="0"/>
                </a:lnTo>
                <a:lnTo>
                  <a:pt x="2692214" y="2692214"/>
                </a:lnTo>
                <a:lnTo>
                  <a:pt x="0" y="2692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10144057"/>
            <a:ext cx="18288000" cy="157327"/>
            <a:chOff x="0" y="0"/>
            <a:chExt cx="4816593" cy="414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816593" cy="70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448435" cy="70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 rot="-18144">
            <a:off x="4493453" y="4206017"/>
            <a:ext cx="9272752" cy="116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28"/>
              </a:lnSpc>
            </a:pPr>
            <a:r>
              <a:rPr lang="en-US" sz="4000" spc="-276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STA3115 </a:t>
            </a:r>
            <a:r>
              <a:rPr lang="ko-KR" altLang="en-US" sz="4000" b="1" spc="-276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탐색적자료분석</a:t>
            </a:r>
            <a:r>
              <a:rPr lang="ko-KR" altLang="en-US" sz="4000" spc="-276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 </a:t>
            </a:r>
            <a:r>
              <a:rPr lang="en-US" altLang="ko-KR" sz="4000" spc="-276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Final Project</a:t>
            </a:r>
            <a:endParaRPr lang="en-US" sz="4000" spc="-276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153288" y="8744347"/>
            <a:ext cx="5981419" cy="3624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</a:pPr>
            <a:r>
              <a:rPr lang="en-US" sz="2400" b="1" spc="-92" dirty="0">
                <a:solidFill>
                  <a:srgbClr val="000000">
                    <a:alpha val="93725"/>
                  </a:srgbClr>
                </a:solidFill>
                <a:latin typeface="NanumGothic"/>
                <a:ea typeface="NanumGothic"/>
                <a:cs typeface="NanumGothic"/>
                <a:sym typeface="Nanum Gothic"/>
              </a:rPr>
              <a:t>Team 9 </a:t>
            </a:r>
            <a:r>
              <a:rPr lang="ko-KR" altLang="en-US" sz="2400" b="1" spc="-92" dirty="0">
                <a:solidFill>
                  <a:srgbClr val="000000">
                    <a:alpha val="93725"/>
                  </a:srgbClr>
                </a:solidFill>
                <a:latin typeface="NanumGothic"/>
                <a:ea typeface="NanumGothic"/>
                <a:cs typeface="NanumGothic"/>
                <a:sym typeface="Nanum Gothic"/>
              </a:rPr>
              <a:t> 박지은 </a:t>
            </a:r>
            <a:r>
              <a:rPr lang="ko-KR" altLang="en-US" sz="2400" b="1" spc="-92" dirty="0" err="1">
                <a:solidFill>
                  <a:srgbClr val="000000">
                    <a:alpha val="93725"/>
                  </a:srgbClr>
                </a:solidFill>
                <a:latin typeface="NanumGothic"/>
                <a:ea typeface="NanumGothic"/>
                <a:cs typeface="NanumGothic"/>
                <a:sym typeface="Nanum Gothic"/>
              </a:rPr>
              <a:t>조준태</a:t>
            </a:r>
            <a:r>
              <a:rPr lang="ko-KR" altLang="en-US" sz="2400" b="1" spc="-92" dirty="0">
                <a:solidFill>
                  <a:srgbClr val="000000">
                    <a:alpha val="93725"/>
                  </a:srgbClr>
                </a:solidFill>
                <a:latin typeface="NanumGothic"/>
                <a:ea typeface="NanumGothic"/>
                <a:cs typeface="NanumGothic"/>
                <a:sym typeface="Nanum Gothic"/>
              </a:rPr>
              <a:t> </a:t>
            </a:r>
            <a:r>
              <a:rPr lang="ko-KR" altLang="en-US" sz="2400" b="1" spc="-92" dirty="0" err="1">
                <a:solidFill>
                  <a:srgbClr val="000000">
                    <a:alpha val="93725"/>
                  </a:srgbClr>
                </a:solidFill>
                <a:latin typeface="NanumGothic"/>
                <a:ea typeface="NanumGothic"/>
                <a:cs typeface="NanumGothic"/>
                <a:sym typeface="Nanum Gothic"/>
              </a:rPr>
              <a:t>지민구</a:t>
            </a:r>
            <a:endParaRPr lang="en-US" sz="2400" b="1" spc="-92" dirty="0">
              <a:solidFill>
                <a:srgbClr val="000000">
                  <a:alpha val="93725"/>
                </a:srgbClr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5" name="AutoShape 18">
            <a:extLst>
              <a:ext uri="{FF2B5EF4-FFF2-40B4-BE49-F238E27FC236}">
                <a16:creationId xmlns:a16="http://schemas.microsoft.com/office/drawing/2014/main" id="{0AC0B72C-8D0E-BE1E-7237-F943964E1192}"/>
              </a:ext>
            </a:extLst>
          </p:cNvPr>
          <p:cNvSpPr/>
          <p:nvPr/>
        </p:nvSpPr>
        <p:spPr>
          <a:xfrm>
            <a:off x="789526" y="5709702"/>
            <a:ext cx="16708947" cy="0"/>
          </a:xfrm>
          <a:prstGeom prst="line">
            <a:avLst/>
          </a:prstGeom>
          <a:ln w="9525" cap="flat">
            <a:solidFill>
              <a:srgbClr val="5E61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CC1CE26-140B-965D-11A8-B3E5D2D750AA}"/>
              </a:ext>
            </a:extLst>
          </p:cNvPr>
          <p:cNvGrpSpPr/>
          <p:nvPr/>
        </p:nvGrpSpPr>
        <p:grpSpPr>
          <a:xfrm>
            <a:off x="2193702" y="5829300"/>
            <a:ext cx="14243497" cy="2201151"/>
            <a:chOff x="2193702" y="6867170"/>
            <a:chExt cx="14243497" cy="2201151"/>
          </a:xfrm>
        </p:grpSpPr>
        <p:sp>
          <p:nvSpPr>
            <p:cNvPr id="10" name="TextBox 10"/>
            <p:cNvSpPr txBox="1"/>
            <p:nvPr/>
          </p:nvSpPr>
          <p:spPr>
            <a:xfrm rot="-18144">
              <a:off x="2193702" y="6867170"/>
              <a:ext cx="14243497" cy="12357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ctr">
                <a:lnSpc>
                  <a:spcPts val="10828"/>
                </a:lnSpc>
              </a:pPr>
              <a:r>
                <a:rPr lang="ko-KR" altLang="en-US" sz="6400" spc="-276" dirty="0">
                  <a:solidFill>
                    <a:srgbClr val="468A57"/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건강보험 데이터를 활용한</a:t>
              </a:r>
              <a:endParaRPr lang="en-US" altLang="ko-KR" sz="6400" spc="-276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endParaRPr>
            </a:p>
          </p:txBody>
        </p: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D64619FA-0E61-5DA2-255B-DD7189E08005}"/>
                </a:ext>
              </a:extLst>
            </p:cNvPr>
            <p:cNvSpPr txBox="1"/>
            <p:nvPr/>
          </p:nvSpPr>
          <p:spPr>
            <a:xfrm rot="-18144">
              <a:off x="2193702" y="7832598"/>
              <a:ext cx="14243497" cy="12357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ctr">
                <a:lnSpc>
                  <a:spcPts val="10828"/>
                </a:lnSpc>
              </a:pPr>
              <a:r>
                <a:rPr lang="ko-KR" altLang="en-US" sz="6400" spc="-276" dirty="0">
                  <a:solidFill>
                    <a:srgbClr val="468A57"/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질병별 의료 이용 현황 및 변화 양상 분석</a:t>
              </a:r>
              <a:endParaRPr lang="en-US" sz="6400" spc="-276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F7E57-4E59-F633-8172-99F1F8D39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BBA656F-BC2E-1BDB-2062-C20FFEF5B1F7}"/>
              </a:ext>
            </a:extLst>
          </p:cNvPr>
          <p:cNvGrpSpPr/>
          <p:nvPr/>
        </p:nvGrpSpPr>
        <p:grpSpPr>
          <a:xfrm>
            <a:off x="152400" y="10144057"/>
            <a:ext cx="18288000" cy="157327"/>
            <a:chOff x="0" y="0"/>
            <a:chExt cx="4816593" cy="4143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BB23B65-1625-ADFE-0976-3383A30DABC1}"/>
                </a:ext>
              </a:extLst>
            </p:cNvPr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883C691-3D6D-2AF5-886E-1B5BDAA3109A}"/>
                </a:ext>
              </a:extLst>
            </p:cNvPr>
            <p:cNvSpPr txBox="1"/>
            <p:nvPr/>
          </p:nvSpPr>
          <p:spPr>
            <a:xfrm>
              <a:off x="0" y="-38100"/>
              <a:ext cx="4816593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965659B-CBC9-6166-5A67-3FCB5FA6CA14}"/>
              </a:ext>
            </a:extLst>
          </p:cNvPr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94521F8-6C11-E04B-654B-468CD51298C6}"/>
                </a:ext>
              </a:extLst>
            </p:cNvPr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903BB13-E6FA-A927-8494-7D6E63DBA400}"/>
                </a:ext>
              </a:extLst>
            </p:cNvPr>
            <p:cNvSpPr txBox="1"/>
            <p:nvPr/>
          </p:nvSpPr>
          <p:spPr>
            <a:xfrm>
              <a:off x="0" y="-38100"/>
              <a:ext cx="2448435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34FDECBA-6EFF-1182-78A7-D08BDC4136AC}"/>
              </a:ext>
            </a:extLst>
          </p:cNvPr>
          <p:cNvSpPr/>
          <p:nvPr/>
        </p:nvSpPr>
        <p:spPr>
          <a:xfrm rot="-5400000">
            <a:off x="17559576" y="395641"/>
            <a:ext cx="71874" cy="319441"/>
          </a:xfrm>
          <a:custGeom>
            <a:avLst/>
            <a:gdLst/>
            <a:ahLst/>
            <a:cxnLst/>
            <a:rect l="l" t="t" r="r" b="b"/>
            <a:pathLst>
              <a:path w="71874" h="319441">
                <a:moveTo>
                  <a:pt x="0" y="0"/>
                </a:moveTo>
                <a:lnTo>
                  <a:pt x="71874" y="0"/>
                </a:lnTo>
                <a:lnTo>
                  <a:pt x="71874" y="319441"/>
                </a:lnTo>
                <a:lnTo>
                  <a:pt x="0" y="319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3EC52CB-F688-7354-85BE-B548AB53E270}"/>
              </a:ext>
            </a:extLst>
          </p:cNvPr>
          <p:cNvSpPr txBox="1"/>
          <p:nvPr/>
        </p:nvSpPr>
        <p:spPr>
          <a:xfrm>
            <a:off x="8175466" y="1673427"/>
            <a:ext cx="104283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2213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3F52D37-00E9-5078-4A1F-2637879BA26E}"/>
              </a:ext>
            </a:extLst>
          </p:cNvPr>
          <p:cNvSpPr txBox="1"/>
          <p:nvPr/>
        </p:nvSpPr>
        <p:spPr>
          <a:xfrm>
            <a:off x="8763000" y="1653016"/>
            <a:ext cx="4350015" cy="50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4"/>
              </a:lnSpc>
            </a:pPr>
            <a:r>
              <a:rPr lang="ko-KR" altLang="en-US" sz="3366" spc="-154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프로젝트 배경</a:t>
            </a:r>
            <a:endParaRPr lang="en-US" sz="3366" spc="-154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00EAB279-E825-C009-6BA0-DE0AD2F75453}"/>
              </a:ext>
            </a:extLst>
          </p:cNvPr>
          <p:cNvSpPr/>
          <p:nvPr/>
        </p:nvSpPr>
        <p:spPr>
          <a:xfrm flipH="1" flipV="1">
            <a:off x="6777259" y="845571"/>
            <a:ext cx="0" cy="860857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3C0E534-EF2D-D065-297B-5D198D53F3CA}"/>
              </a:ext>
            </a:extLst>
          </p:cNvPr>
          <p:cNvSpPr txBox="1"/>
          <p:nvPr/>
        </p:nvSpPr>
        <p:spPr>
          <a:xfrm rot="-18144">
            <a:off x="1647607" y="2126980"/>
            <a:ext cx="4728900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23"/>
              </a:lnSpc>
            </a:pPr>
            <a:r>
              <a:rPr lang="en-US" sz="7474" spc="-381" dirty="0" err="1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목차</a:t>
            </a:r>
            <a:endParaRPr lang="en-US" sz="7474" spc="-381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6641C59-DB7E-0286-982D-1A3DDE5872FA}"/>
              </a:ext>
            </a:extLst>
          </p:cNvPr>
          <p:cNvSpPr txBox="1"/>
          <p:nvPr/>
        </p:nvSpPr>
        <p:spPr>
          <a:xfrm>
            <a:off x="1751070" y="1663902"/>
            <a:ext cx="104283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2213" spc="112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INDEX</a:t>
            </a:r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FAE8376E-7886-D56F-F3E4-5308ADC5EACE}"/>
              </a:ext>
            </a:extLst>
          </p:cNvPr>
          <p:cNvSpPr txBox="1"/>
          <p:nvPr/>
        </p:nvSpPr>
        <p:spPr>
          <a:xfrm>
            <a:off x="8175466" y="2653115"/>
            <a:ext cx="104283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2213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</a:t>
            </a:r>
            <a:r>
              <a:rPr lang="en-US" altLang="ko-KR" sz="2213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2</a:t>
            </a:r>
            <a:endParaRPr lang="en-US" sz="2213" spc="-57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E6486BB6-40DD-EF35-1062-A2A4F38ED96F}"/>
              </a:ext>
            </a:extLst>
          </p:cNvPr>
          <p:cNvSpPr txBox="1"/>
          <p:nvPr/>
        </p:nvSpPr>
        <p:spPr>
          <a:xfrm>
            <a:off x="8763000" y="2632704"/>
            <a:ext cx="4350015" cy="50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4"/>
              </a:lnSpc>
            </a:pPr>
            <a:r>
              <a:rPr lang="ko-KR" altLang="en-US" sz="3366" spc="-154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데이터 소개</a:t>
            </a:r>
            <a:endParaRPr lang="en-US" sz="3366" spc="-154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C5DE170A-E712-3E9D-C8BF-E6B0A4EC2BB9}"/>
              </a:ext>
            </a:extLst>
          </p:cNvPr>
          <p:cNvSpPr txBox="1"/>
          <p:nvPr/>
        </p:nvSpPr>
        <p:spPr>
          <a:xfrm>
            <a:off x="8175466" y="3632803"/>
            <a:ext cx="104283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2213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</a:t>
            </a:r>
            <a:r>
              <a:rPr lang="en-US" altLang="ko-KR" sz="2213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3</a:t>
            </a:r>
            <a:endParaRPr lang="en-US" sz="2213" spc="-57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38" name="TextBox 12">
            <a:extLst>
              <a:ext uri="{FF2B5EF4-FFF2-40B4-BE49-F238E27FC236}">
                <a16:creationId xmlns:a16="http://schemas.microsoft.com/office/drawing/2014/main" id="{7D905DB5-75F4-50DC-63A9-FA9F5D328BE9}"/>
              </a:ext>
            </a:extLst>
          </p:cNvPr>
          <p:cNvSpPr txBox="1"/>
          <p:nvPr/>
        </p:nvSpPr>
        <p:spPr>
          <a:xfrm>
            <a:off x="8763000" y="3612392"/>
            <a:ext cx="5181597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sz="3366" spc="-154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[A] </a:t>
            </a:r>
            <a:r>
              <a:rPr lang="ko-KR" altLang="en-US" sz="3366" spc="-154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현재 의료비 구조의 특징</a:t>
            </a:r>
            <a:endParaRPr lang="en-US" sz="3366" spc="-154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40" name="TextBox 12">
            <a:extLst>
              <a:ext uri="{FF2B5EF4-FFF2-40B4-BE49-F238E27FC236}">
                <a16:creationId xmlns:a16="http://schemas.microsoft.com/office/drawing/2014/main" id="{54A7BC04-843D-91E4-AB27-288AD5AB8949}"/>
              </a:ext>
            </a:extLst>
          </p:cNvPr>
          <p:cNvSpPr txBox="1"/>
          <p:nvPr/>
        </p:nvSpPr>
        <p:spPr>
          <a:xfrm>
            <a:off x="8763000" y="4592080"/>
            <a:ext cx="5943599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altLang="ko-KR" sz="3366" spc="-154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[B]</a:t>
            </a:r>
            <a:r>
              <a:rPr lang="ko-KR" altLang="en-US" sz="3366" spc="-154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 최근 급증하고 있는 변화 포착</a:t>
            </a:r>
            <a:endParaRPr lang="en-US" sz="3366" spc="-154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42" name="TextBox 12">
            <a:extLst>
              <a:ext uri="{FF2B5EF4-FFF2-40B4-BE49-F238E27FC236}">
                <a16:creationId xmlns:a16="http://schemas.microsoft.com/office/drawing/2014/main" id="{BA47E187-2FB7-FB48-4C13-62530CE441EB}"/>
              </a:ext>
            </a:extLst>
          </p:cNvPr>
          <p:cNvSpPr txBox="1"/>
          <p:nvPr/>
        </p:nvSpPr>
        <p:spPr>
          <a:xfrm>
            <a:off x="8763000" y="5571768"/>
            <a:ext cx="5181592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altLang="ko-KR" sz="3366" spc="-154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[C] </a:t>
            </a:r>
            <a:r>
              <a:rPr lang="ko-KR" altLang="en-US" sz="3366" spc="-154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저출산 고령화와 의료비</a:t>
            </a:r>
            <a:endParaRPr lang="en-US" sz="3366" spc="-154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43" name="TextBox 10">
            <a:extLst>
              <a:ext uri="{FF2B5EF4-FFF2-40B4-BE49-F238E27FC236}">
                <a16:creationId xmlns:a16="http://schemas.microsoft.com/office/drawing/2014/main" id="{5616256F-277B-BBDC-ADAB-B9A9DECD31CA}"/>
              </a:ext>
            </a:extLst>
          </p:cNvPr>
          <p:cNvSpPr txBox="1"/>
          <p:nvPr/>
        </p:nvSpPr>
        <p:spPr>
          <a:xfrm>
            <a:off x="8175466" y="6571867"/>
            <a:ext cx="104283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2213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</a:t>
            </a:r>
            <a:r>
              <a:rPr lang="en-US" altLang="ko-KR" sz="2213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4</a:t>
            </a:r>
            <a:endParaRPr lang="en-US" sz="2213" spc="-57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44" name="TextBox 12">
            <a:extLst>
              <a:ext uri="{FF2B5EF4-FFF2-40B4-BE49-F238E27FC236}">
                <a16:creationId xmlns:a16="http://schemas.microsoft.com/office/drawing/2014/main" id="{C2237EB6-E3BF-7F32-15B9-21AF45DA4560}"/>
              </a:ext>
            </a:extLst>
          </p:cNvPr>
          <p:cNvSpPr txBox="1"/>
          <p:nvPr/>
        </p:nvSpPr>
        <p:spPr>
          <a:xfrm>
            <a:off x="8763000" y="6551456"/>
            <a:ext cx="4350015" cy="50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4"/>
              </a:lnSpc>
            </a:pPr>
            <a:r>
              <a:rPr lang="ko-KR" altLang="en-US" sz="3366" spc="-154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시사점</a:t>
            </a:r>
            <a:endParaRPr lang="en-US" sz="3366" spc="-154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45" name="TextBox 10">
            <a:extLst>
              <a:ext uri="{FF2B5EF4-FFF2-40B4-BE49-F238E27FC236}">
                <a16:creationId xmlns:a16="http://schemas.microsoft.com/office/drawing/2014/main" id="{2F8517AE-8D47-5A8C-3E09-C5BCC225F1B0}"/>
              </a:ext>
            </a:extLst>
          </p:cNvPr>
          <p:cNvSpPr txBox="1"/>
          <p:nvPr/>
        </p:nvSpPr>
        <p:spPr>
          <a:xfrm>
            <a:off x="8175466" y="7551555"/>
            <a:ext cx="104283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altLang="ko-KR" sz="2213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05</a:t>
            </a:r>
            <a:endParaRPr lang="en-US" sz="2213" spc="-57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46" name="TextBox 12">
            <a:extLst>
              <a:ext uri="{FF2B5EF4-FFF2-40B4-BE49-F238E27FC236}">
                <a16:creationId xmlns:a16="http://schemas.microsoft.com/office/drawing/2014/main" id="{89126C79-E21E-0EB1-D1EF-0D970FA789D4}"/>
              </a:ext>
            </a:extLst>
          </p:cNvPr>
          <p:cNvSpPr txBox="1"/>
          <p:nvPr/>
        </p:nvSpPr>
        <p:spPr>
          <a:xfrm>
            <a:off x="8763000" y="7531141"/>
            <a:ext cx="4350015" cy="50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4"/>
              </a:lnSpc>
            </a:pPr>
            <a:r>
              <a:rPr lang="ko-KR" altLang="en-US" sz="3366" spc="-154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한계점 및 보완점</a:t>
            </a:r>
            <a:endParaRPr lang="en-US" sz="3366" spc="-154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13392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75A52-A2CB-07C0-F8FA-74E81BC64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557FAF5-B6FA-4B02-A9EA-5C5E76D463E7}"/>
              </a:ext>
            </a:extLst>
          </p:cNvPr>
          <p:cNvGrpSpPr/>
          <p:nvPr/>
        </p:nvGrpSpPr>
        <p:grpSpPr>
          <a:xfrm>
            <a:off x="0" y="10144057"/>
            <a:ext cx="18288000" cy="157327"/>
            <a:chOff x="0" y="0"/>
            <a:chExt cx="4816593" cy="4143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015B17B-9FAE-AD9F-2B20-1FE6083E9DC4}"/>
                </a:ext>
              </a:extLst>
            </p:cNvPr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AC989A-AB85-BA6F-14AF-5CDA0841A187}"/>
                </a:ext>
              </a:extLst>
            </p:cNvPr>
            <p:cNvSpPr txBox="1"/>
            <p:nvPr/>
          </p:nvSpPr>
          <p:spPr>
            <a:xfrm>
              <a:off x="0" y="-38100"/>
              <a:ext cx="4816593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7D9C63E-1008-BEFB-6E61-9AEBBB58DE52}"/>
              </a:ext>
            </a:extLst>
          </p:cNvPr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92468E4-0686-8C13-95E2-1B21FB5D8EC1}"/>
                </a:ext>
              </a:extLst>
            </p:cNvPr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2FF8BA3-17DF-4100-95EB-77E3C7429E2A}"/>
                </a:ext>
              </a:extLst>
            </p:cNvPr>
            <p:cNvSpPr txBox="1"/>
            <p:nvPr/>
          </p:nvSpPr>
          <p:spPr>
            <a:xfrm>
              <a:off x="0" y="-38100"/>
              <a:ext cx="2448435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75DA1405-FB6B-47FD-547A-F4265150AA42}"/>
              </a:ext>
            </a:extLst>
          </p:cNvPr>
          <p:cNvSpPr txBox="1"/>
          <p:nvPr/>
        </p:nvSpPr>
        <p:spPr>
          <a:xfrm rot="-18144">
            <a:off x="1493077" y="555735"/>
            <a:ext cx="5958941" cy="824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195"/>
              </a:lnSpc>
            </a:pPr>
            <a:r>
              <a:rPr lang="ko-KR" altLang="en-US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프로젝트 배경</a:t>
            </a:r>
            <a:endParaRPr lang="en-US" sz="5600" spc="-309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737F88D-874F-BC8C-7DD8-2045F6A3BBB4}"/>
              </a:ext>
            </a:extLst>
          </p:cNvPr>
          <p:cNvSpPr txBox="1"/>
          <p:nvPr/>
        </p:nvSpPr>
        <p:spPr>
          <a:xfrm>
            <a:off x="1490942" y="1559508"/>
            <a:ext cx="8338858" cy="307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ko-KR" altLang="en-US" sz="28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저출산 고령화 시대</a:t>
            </a:r>
            <a:r>
              <a:rPr lang="en-US" altLang="ko-KR" sz="28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,</a:t>
            </a:r>
            <a:r>
              <a:rPr lang="ko-KR" altLang="en-US" sz="28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 의료비는 어디로 향하는가</a:t>
            </a:r>
            <a:endParaRPr lang="en-US" sz="28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F4B91F12-48D0-9272-0A9A-A9D2EE619160}"/>
              </a:ext>
            </a:extLst>
          </p:cNvPr>
          <p:cNvSpPr/>
          <p:nvPr/>
        </p:nvSpPr>
        <p:spPr>
          <a:xfrm>
            <a:off x="726970" y="2171700"/>
            <a:ext cx="16708947" cy="0"/>
          </a:xfrm>
          <a:prstGeom prst="line">
            <a:avLst/>
          </a:prstGeom>
          <a:ln w="9525" cap="flat">
            <a:solidFill>
              <a:srgbClr val="5E61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377D86E-045B-DE5B-EC40-F9EBECBA3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6554669"/>
            <a:ext cx="13270026" cy="1172700"/>
          </a:xfrm>
          <a:prstGeom prst="rect">
            <a:avLst/>
          </a:prstGeom>
        </p:spPr>
      </p:pic>
      <p:pic>
        <p:nvPicPr>
          <p:cNvPr id="28" name="그림 27" descr="텍스트, 폰트, 그래픽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E4E6E6-4655-D018-A98A-6AAF694B0F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535" y="5324116"/>
            <a:ext cx="10677741" cy="141958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82BF7AA-839C-7A77-FDAF-441691F9DA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791" y="7812465"/>
            <a:ext cx="12282485" cy="101839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8791208D-5663-9693-B603-5CC4E82ACF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852" y="2873867"/>
            <a:ext cx="11356669" cy="108011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46D10C1-BD76-C940-62E1-81BED3F588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53" y="4141485"/>
            <a:ext cx="13084852" cy="925815"/>
          </a:xfrm>
          <a:prstGeom prst="rect">
            <a:avLst/>
          </a:prstGeom>
        </p:spPr>
      </p:pic>
      <p:sp>
        <p:nvSpPr>
          <p:cNvPr id="35" name="TextBox 10">
            <a:extLst>
              <a:ext uri="{FF2B5EF4-FFF2-40B4-BE49-F238E27FC236}">
                <a16:creationId xmlns:a16="http://schemas.microsoft.com/office/drawing/2014/main" id="{E62B483B-3EF9-45CF-E2F5-3AB2D4994F40}"/>
              </a:ext>
            </a:extLst>
          </p:cNvPr>
          <p:cNvSpPr txBox="1"/>
          <p:nvPr/>
        </p:nvSpPr>
        <p:spPr>
          <a:xfrm>
            <a:off x="726970" y="708723"/>
            <a:ext cx="1042830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83438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EBEF-9471-A0D1-66E0-A73AF9894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467861D-9ECA-C457-976D-D2F116D239F2}"/>
              </a:ext>
            </a:extLst>
          </p:cNvPr>
          <p:cNvGrpSpPr/>
          <p:nvPr/>
        </p:nvGrpSpPr>
        <p:grpSpPr>
          <a:xfrm>
            <a:off x="0" y="10144057"/>
            <a:ext cx="18288000" cy="157327"/>
            <a:chOff x="0" y="0"/>
            <a:chExt cx="4816593" cy="4143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C5D131A-0380-B59B-40F4-B385447CAAAA}"/>
                </a:ext>
              </a:extLst>
            </p:cNvPr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6949EDF-B3DF-3596-2F19-58D32CD9ED5C}"/>
                </a:ext>
              </a:extLst>
            </p:cNvPr>
            <p:cNvSpPr txBox="1"/>
            <p:nvPr/>
          </p:nvSpPr>
          <p:spPr>
            <a:xfrm>
              <a:off x="0" y="-38100"/>
              <a:ext cx="4816593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67DDBFF-918D-AE4F-6E3F-9DF171E52DD7}"/>
              </a:ext>
            </a:extLst>
          </p:cNvPr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DD23202-A0F1-9397-5138-9D82DC8A4CB0}"/>
                </a:ext>
              </a:extLst>
            </p:cNvPr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4E9F6A2-2417-5061-67E6-43B73F1DE75A}"/>
                </a:ext>
              </a:extLst>
            </p:cNvPr>
            <p:cNvSpPr txBox="1"/>
            <p:nvPr/>
          </p:nvSpPr>
          <p:spPr>
            <a:xfrm>
              <a:off x="0" y="-38100"/>
              <a:ext cx="2448435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CC6DF993-77BA-B3CD-DEE8-AA8BA7F57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630" l="9632" r="89802">
                        <a14:foregroundMark x1="33144" y1="19259" x2="33144" y2="40000"/>
                        <a14:foregroundMark x1="33144" y1="40000" x2="37394" y2="56667"/>
                        <a14:foregroundMark x1="37394" y1="56667" x2="40227" y2="55926"/>
                        <a14:foregroundMark x1="43343" y1="53333" x2="58074" y2="54074"/>
                        <a14:foregroundMark x1="58074" y1="54074" x2="69405" y2="35556"/>
                        <a14:foregroundMark x1="69405" y1="35556" x2="66006" y2="13333"/>
                        <a14:foregroundMark x1="42493" y1="50000" x2="45326" y2="44815"/>
                        <a14:foregroundMark x1="19263" y1="96296" x2="19830" y2="55556"/>
                        <a14:foregroundMark x1="19830" y1="55556" x2="23229" y2="41852"/>
                        <a14:foregroundMark x1="36261" y1="21111" x2="36261" y2="35185"/>
                        <a14:foregroundMark x1="36827" y1="20741" x2="36827" y2="20741"/>
                        <a14:foregroundMark x1="38244" y1="26667" x2="38244" y2="26667"/>
                        <a14:foregroundMark x1="38244" y1="24074" x2="38244" y2="24074"/>
                        <a14:foregroundMark x1="38244" y1="24074" x2="38244" y2="27778"/>
                        <a14:foregroundMark x1="71671" y1="20000" x2="71671" y2="20000"/>
                        <a14:foregroundMark x1="75354" y1="95556" x2="75354" y2="99630"/>
                        <a14:foregroundMark x1="40227" y1="24444" x2="35694" y2="24444"/>
                        <a14:foregroundMark x1="72238" y1="20741" x2="72238" y2="20741"/>
                        <a14:foregroundMark x1="73088" y1="19259" x2="70538" y2="19259"/>
                        <a14:foregroundMark x1="40227" y1="22593" x2="37110" y2="27407"/>
                        <a14:foregroundMark x1="52691" y1="92963" x2="52125" y2="84074"/>
                        <a14:foregroundMark x1="84136" y1="91481" x2="83569" y2="83704"/>
                        <a14:foregroundMark x1="19830" y1="97037" x2="19830" y2="83704"/>
                        <a14:foregroundMark x1="84419" y1="49259" x2="86119" y2="46667"/>
                        <a14:foregroundMark x1="28895" y1="25185" x2="32011" y2="26667"/>
                        <a14:foregroundMark x1="40793" y1="25185" x2="40793" y2="25185"/>
                        <a14:foregroundMark x1="40227" y1="24444" x2="36261" y2="21852"/>
                        <a14:foregroundMark x1="42776" y1="24444" x2="37110" y2="2407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29800" y="3757283"/>
            <a:ext cx="5156200" cy="395503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1A75E77-38B7-592D-A9CA-B497A47A0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426" y="3517422"/>
            <a:ext cx="4429487" cy="4429487"/>
          </a:xfrm>
          <a:prstGeom prst="rect">
            <a:avLst/>
          </a:prstGeom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AD12C2FC-3C2B-1EA7-BD8A-1370ED8BE4DF}"/>
              </a:ext>
            </a:extLst>
          </p:cNvPr>
          <p:cNvSpPr txBox="1"/>
          <p:nvPr/>
        </p:nvSpPr>
        <p:spPr>
          <a:xfrm rot="-18144">
            <a:off x="1493077" y="555735"/>
            <a:ext cx="5958941" cy="824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195"/>
              </a:lnSpc>
            </a:pPr>
            <a:r>
              <a:rPr lang="ko-KR" altLang="en-US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프로젝트 배경</a:t>
            </a:r>
            <a:endParaRPr lang="en-US" sz="5600" spc="-309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00C69495-0CAF-8E65-0B97-747395FBA5D9}"/>
              </a:ext>
            </a:extLst>
          </p:cNvPr>
          <p:cNvSpPr txBox="1"/>
          <p:nvPr/>
        </p:nvSpPr>
        <p:spPr>
          <a:xfrm>
            <a:off x="1490942" y="1559508"/>
            <a:ext cx="8338858" cy="307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ko-KR" altLang="en-US" sz="28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저출산 고령화 시대</a:t>
            </a:r>
            <a:r>
              <a:rPr lang="en-US" altLang="ko-KR" sz="28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,</a:t>
            </a:r>
            <a:r>
              <a:rPr lang="ko-KR" altLang="en-US" sz="28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 의료비는 어디로 향하는가</a:t>
            </a:r>
            <a:endParaRPr lang="en-US" sz="28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6" name="AutoShape 18">
            <a:extLst>
              <a:ext uri="{FF2B5EF4-FFF2-40B4-BE49-F238E27FC236}">
                <a16:creationId xmlns:a16="http://schemas.microsoft.com/office/drawing/2014/main" id="{0B51D0BF-472B-C6F4-4861-149BF1E6D15F}"/>
              </a:ext>
            </a:extLst>
          </p:cNvPr>
          <p:cNvSpPr/>
          <p:nvPr/>
        </p:nvSpPr>
        <p:spPr>
          <a:xfrm>
            <a:off x="726970" y="2171700"/>
            <a:ext cx="16708947" cy="0"/>
          </a:xfrm>
          <a:prstGeom prst="line">
            <a:avLst/>
          </a:prstGeom>
          <a:ln w="9525" cap="flat">
            <a:solidFill>
              <a:srgbClr val="5E61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87E9DA13-93CF-E06A-CFAD-B030E8F26198}"/>
              </a:ext>
            </a:extLst>
          </p:cNvPr>
          <p:cNvSpPr txBox="1"/>
          <p:nvPr/>
        </p:nvSpPr>
        <p:spPr>
          <a:xfrm>
            <a:off x="726970" y="708723"/>
            <a:ext cx="1042830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71128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8ED4F-AF2A-52FB-E234-34944A35F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14">
            <a:extLst>
              <a:ext uri="{FF2B5EF4-FFF2-40B4-BE49-F238E27FC236}">
                <a16:creationId xmlns:a16="http://schemas.microsoft.com/office/drawing/2014/main" id="{D43389C2-A4CE-EDCF-903C-D3D2C54E7E44}"/>
              </a:ext>
            </a:extLst>
          </p:cNvPr>
          <p:cNvGrpSpPr/>
          <p:nvPr/>
        </p:nvGrpSpPr>
        <p:grpSpPr>
          <a:xfrm>
            <a:off x="721526" y="7228648"/>
            <a:ext cx="16708946" cy="2690031"/>
            <a:chOff x="0" y="0"/>
            <a:chExt cx="4073918" cy="429424"/>
          </a:xfrm>
        </p:grpSpPr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93040D97-EB1D-ED1C-70B9-B5C3799C8C60}"/>
                </a:ext>
              </a:extLst>
            </p:cNvPr>
            <p:cNvSpPr/>
            <p:nvPr/>
          </p:nvSpPr>
          <p:spPr>
            <a:xfrm>
              <a:off x="0" y="0"/>
              <a:ext cx="4073918" cy="429424"/>
            </a:xfrm>
            <a:custGeom>
              <a:avLst/>
              <a:gdLst/>
              <a:ahLst/>
              <a:cxnLst/>
              <a:rect l="l" t="t" r="r" b="b"/>
              <a:pathLst>
                <a:path w="4073918" h="429424">
                  <a:moveTo>
                    <a:pt x="10010" y="0"/>
                  </a:moveTo>
                  <a:lnTo>
                    <a:pt x="4063908" y="0"/>
                  </a:lnTo>
                  <a:cubicBezTo>
                    <a:pt x="4069437" y="0"/>
                    <a:pt x="4073918" y="4482"/>
                    <a:pt x="4073918" y="10010"/>
                  </a:cubicBezTo>
                  <a:lnTo>
                    <a:pt x="4073918" y="419414"/>
                  </a:lnTo>
                  <a:cubicBezTo>
                    <a:pt x="4073918" y="422069"/>
                    <a:pt x="4072864" y="424615"/>
                    <a:pt x="4070986" y="426492"/>
                  </a:cubicBezTo>
                  <a:cubicBezTo>
                    <a:pt x="4069109" y="428370"/>
                    <a:pt x="4066563" y="429424"/>
                    <a:pt x="4063908" y="429424"/>
                  </a:cubicBezTo>
                  <a:lnTo>
                    <a:pt x="10010" y="429424"/>
                  </a:lnTo>
                  <a:cubicBezTo>
                    <a:pt x="7355" y="429424"/>
                    <a:pt x="4809" y="428370"/>
                    <a:pt x="2932" y="426492"/>
                  </a:cubicBezTo>
                  <a:cubicBezTo>
                    <a:pt x="1055" y="424615"/>
                    <a:pt x="0" y="422069"/>
                    <a:pt x="0" y="419414"/>
                  </a:cubicBezTo>
                  <a:lnTo>
                    <a:pt x="0" y="10010"/>
                  </a:lnTo>
                  <a:cubicBezTo>
                    <a:pt x="0" y="7355"/>
                    <a:pt x="1055" y="4809"/>
                    <a:pt x="2932" y="2932"/>
                  </a:cubicBezTo>
                  <a:cubicBezTo>
                    <a:pt x="4809" y="1055"/>
                    <a:pt x="7355" y="0"/>
                    <a:pt x="10010" y="0"/>
                  </a:cubicBezTo>
                  <a:close/>
                </a:path>
              </a:pathLst>
            </a:custGeom>
            <a:solidFill>
              <a:srgbClr val="E5E8EA"/>
            </a:solidFill>
            <a:ln w="38100" cap="sq">
              <a:solidFill>
                <a:srgbClr val="6A787F"/>
              </a:solidFill>
              <a:prstDash val="solid"/>
              <a:miter/>
            </a:ln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7" name="TextBox 16">
              <a:extLst>
                <a:ext uri="{FF2B5EF4-FFF2-40B4-BE49-F238E27FC236}">
                  <a16:creationId xmlns:a16="http://schemas.microsoft.com/office/drawing/2014/main" id="{FD20D661-BF74-71D4-BD11-7699135F2E1F}"/>
                </a:ext>
              </a:extLst>
            </p:cNvPr>
            <p:cNvSpPr txBox="1"/>
            <p:nvPr/>
          </p:nvSpPr>
          <p:spPr>
            <a:xfrm>
              <a:off x="0" y="-38100"/>
              <a:ext cx="4073918" cy="467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42" name="Group 14">
            <a:extLst>
              <a:ext uri="{FF2B5EF4-FFF2-40B4-BE49-F238E27FC236}">
                <a16:creationId xmlns:a16="http://schemas.microsoft.com/office/drawing/2014/main" id="{67783743-36C5-90A5-D1E2-E55771246B9F}"/>
              </a:ext>
            </a:extLst>
          </p:cNvPr>
          <p:cNvGrpSpPr/>
          <p:nvPr/>
        </p:nvGrpSpPr>
        <p:grpSpPr>
          <a:xfrm>
            <a:off x="721526" y="2353989"/>
            <a:ext cx="16708947" cy="3555807"/>
            <a:chOff x="0" y="0"/>
            <a:chExt cx="4073918" cy="429424"/>
          </a:xfrm>
        </p:grpSpPr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2D17D217-9032-8E92-54BE-64BDE34CF7C7}"/>
                </a:ext>
              </a:extLst>
            </p:cNvPr>
            <p:cNvSpPr/>
            <p:nvPr/>
          </p:nvSpPr>
          <p:spPr>
            <a:xfrm>
              <a:off x="0" y="0"/>
              <a:ext cx="4073918" cy="429424"/>
            </a:xfrm>
            <a:custGeom>
              <a:avLst/>
              <a:gdLst/>
              <a:ahLst/>
              <a:cxnLst/>
              <a:rect l="l" t="t" r="r" b="b"/>
              <a:pathLst>
                <a:path w="4073918" h="429424">
                  <a:moveTo>
                    <a:pt x="10010" y="0"/>
                  </a:moveTo>
                  <a:lnTo>
                    <a:pt x="4063908" y="0"/>
                  </a:lnTo>
                  <a:cubicBezTo>
                    <a:pt x="4069437" y="0"/>
                    <a:pt x="4073918" y="4482"/>
                    <a:pt x="4073918" y="10010"/>
                  </a:cubicBezTo>
                  <a:lnTo>
                    <a:pt x="4073918" y="419414"/>
                  </a:lnTo>
                  <a:cubicBezTo>
                    <a:pt x="4073918" y="422069"/>
                    <a:pt x="4072864" y="424615"/>
                    <a:pt x="4070986" y="426492"/>
                  </a:cubicBezTo>
                  <a:cubicBezTo>
                    <a:pt x="4069109" y="428370"/>
                    <a:pt x="4066563" y="429424"/>
                    <a:pt x="4063908" y="429424"/>
                  </a:cubicBezTo>
                  <a:lnTo>
                    <a:pt x="10010" y="429424"/>
                  </a:lnTo>
                  <a:cubicBezTo>
                    <a:pt x="7355" y="429424"/>
                    <a:pt x="4809" y="428370"/>
                    <a:pt x="2932" y="426492"/>
                  </a:cubicBezTo>
                  <a:cubicBezTo>
                    <a:pt x="1055" y="424615"/>
                    <a:pt x="0" y="422069"/>
                    <a:pt x="0" y="419414"/>
                  </a:cubicBezTo>
                  <a:lnTo>
                    <a:pt x="0" y="10010"/>
                  </a:lnTo>
                  <a:cubicBezTo>
                    <a:pt x="0" y="7355"/>
                    <a:pt x="1055" y="4809"/>
                    <a:pt x="2932" y="2932"/>
                  </a:cubicBezTo>
                  <a:cubicBezTo>
                    <a:pt x="4809" y="1055"/>
                    <a:pt x="7355" y="0"/>
                    <a:pt x="10010" y="0"/>
                  </a:cubicBezTo>
                  <a:close/>
                </a:path>
              </a:pathLst>
            </a:custGeom>
            <a:solidFill>
              <a:srgbClr val="E5E8EA"/>
            </a:solidFill>
            <a:ln w="38100" cap="sq">
              <a:solidFill>
                <a:srgbClr val="6A787F"/>
              </a:solidFill>
              <a:prstDash val="solid"/>
              <a:miter/>
            </a:ln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4" name="TextBox 16">
              <a:extLst>
                <a:ext uri="{FF2B5EF4-FFF2-40B4-BE49-F238E27FC236}">
                  <a16:creationId xmlns:a16="http://schemas.microsoft.com/office/drawing/2014/main" id="{EDC080F5-B292-6A84-C9E9-7979AF999072}"/>
                </a:ext>
              </a:extLst>
            </p:cNvPr>
            <p:cNvSpPr txBox="1"/>
            <p:nvPr/>
          </p:nvSpPr>
          <p:spPr>
            <a:xfrm>
              <a:off x="0" y="-38100"/>
              <a:ext cx="4073918" cy="467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8BB5471B-A65C-47EC-96DE-0ECCBE3125EE}"/>
              </a:ext>
            </a:extLst>
          </p:cNvPr>
          <p:cNvGrpSpPr/>
          <p:nvPr/>
        </p:nvGrpSpPr>
        <p:grpSpPr>
          <a:xfrm>
            <a:off x="0" y="10144057"/>
            <a:ext cx="18288000" cy="157327"/>
            <a:chOff x="0" y="0"/>
            <a:chExt cx="4816593" cy="4143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0963F9E-D913-2C31-F188-EE813BF858E2}"/>
                </a:ext>
              </a:extLst>
            </p:cNvPr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8334707-A5CD-007E-5ECF-A407DC39ADD7}"/>
                </a:ext>
              </a:extLst>
            </p:cNvPr>
            <p:cNvSpPr txBox="1"/>
            <p:nvPr/>
          </p:nvSpPr>
          <p:spPr>
            <a:xfrm>
              <a:off x="0" y="-38100"/>
              <a:ext cx="4816593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4BA5207-B802-7C19-DB21-16FC8221DA1C}"/>
              </a:ext>
            </a:extLst>
          </p:cNvPr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F1A73AC-5508-7A59-8B29-F6F1412C6AAC}"/>
                </a:ext>
              </a:extLst>
            </p:cNvPr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F3098AF-FCE4-1FE7-0EA5-E66F7D9F1464}"/>
                </a:ext>
              </a:extLst>
            </p:cNvPr>
            <p:cNvSpPr txBox="1"/>
            <p:nvPr/>
          </p:nvSpPr>
          <p:spPr>
            <a:xfrm>
              <a:off x="0" y="-38100"/>
              <a:ext cx="2448435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14" name="TextBox 10">
            <a:extLst>
              <a:ext uri="{FF2B5EF4-FFF2-40B4-BE49-F238E27FC236}">
                <a16:creationId xmlns:a16="http://schemas.microsoft.com/office/drawing/2014/main" id="{B4B89625-C05C-ED33-7AEF-BB8E5ED4714B}"/>
              </a:ext>
            </a:extLst>
          </p:cNvPr>
          <p:cNvSpPr txBox="1"/>
          <p:nvPr/>
        </p:nvSpPr>
        <p:spPr>
          <a:xfrm rot="-18144">
            <a:off x="1493077" y="555735"/>
            <a:ext cx="5958941" cy="824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195"/>
              </a:lnSpc>
            </a:pPr>
            <a:r>
              <a:rPr lang="ko-KR" altLang="en-US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데이터 소개</a:t>
            </a:r>
            <a:endParaRPr lang="en-US" sz="5600" spc="-309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6" name="AutoShape 18">
            <a:extLst>
              <a:ext uri="{FF2B5EF4-FFF2-40B4-BE49-F238E27FC236}">
                <a16:creationId xmlns:a16="http://schemas.microsoft.com/office/drawing/2014/main" id="{DFF147B6-2C01-398D-066B-E2E2EFB262CA}"/>
              </a:ext>
            </a:extLst>
          </p:cNvPr>
          <p:cNvSpPr/>
          <p:nvPr/>
        </p:nvSpPr>
        <p:spPr>
          <a:xfrm>
            <a:off x="726970" y="2171700"/>
            <a:ext cx="16708947" cy="0"/>
          </a:xfrm>
          <a:prstGeom prst="line">
            <a:avLst/>
          </a:prstGeom>
          <a:ln w="9525" cap="flat">
            <a:solidFill>
              <a:srgbClr val="5E61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78087317-BBF9-5463-D47D-6F1AC7BC8106}"/>
              </a:ext>
            </a:extLst>
          </p:cNvPr>
          <p:cNvSpPr txBox="1"/>
          <p:nvPr/>
        </p:nvSpPr>
        <p:spPr>
          <a:xfrm>
            <a:off x="726970" y="708723"/>
            <a:ext cx="1042830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</a:t>
            </a:r>
            <a:r>
              <a:rPr lang="en-US" altLang="ko-KR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2</a:t>
            </a:r>
            <a:endParaRPr lang="en-US" sz="4000" spc="-57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pic>
        <p:nvPicPr>
          <p:cNvPr id="32" name="그림 3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5561D6-A921-141F-2074-88F048E5C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653" y="7365398"/>
            <a:ext cx="15996694" cy="2377649"/>
          </a:xfrm>
          <a:prstGeom prst="rect">
            <a:avLst/>
          </a:prstGeom>
        </p:spPr>
      </p:pic>
      <p:sp>
        <p:nvSpPr>
          <p:cNvPr id="33" name="Freeform 39">
            <a:extLst>
              <a:ext uri="{FF2B5EF4-FFF2-40B4-BE49-F238E27FC236}">
                <a16:creationId xmlns:a16="http://schemas.microsoft.com/office/drawing/2014/main" id="{5A771CCB-546A-885E-9074-D914BB746D16}"/>
              </a:ext>
            </a:extLst>
          </p:cNvPr>
          <p:cNvSpPr/>
          <p:nvPr/>
        </p:nvSpPr>
        <p:spPr>
          <a:xfrm rot="5400000">
            <a:off x="8753079" y="6225157"/>
            <a:ext cx="781837" cy="712449"/>
          </a:xfrm>
          <a:custGeom>
            <a:avLst/>
            <a:gdLst/>
            <a:ahLst/>
            <a:cxnLst/>
            <a:rect l="l" t="t" r="r" b="b"/>
            <a:pathLst>
              <a:path w="781837" h="712449">
                <a:moveTo>
                  <a:pt x="0" y="0"/>
                </a:moveTo>
                <a:lnTo>
                  <a:pt x="781838" y="0"/>
                </a:lnTo>
                <a:lnTo>
                  <a:pt x="781838" y="712449"/>
                </a:lnTo>
                <a:lnTo>
                  <a:pt x="0" y="712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C97F1D03-A043-31BF-6B46-BE1CBD6EA3C0}"/>
              </a:ext>
            </a:extLst>
          </p:cNvPr>
          <p:cNvSpPr txBox="1"/>
          <p:nvPr/>
        </p:nvSpPr>
        <p:spPr>
          <a:xfrm>
            <a:off x="1490942" y="1559508"/>
            <a:ext cx="11158258" cy="602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en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Korean National Health Insurance Claims Data (HIRA),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 </a:t>
            </a:r>
            <a:r>
              <a:rPr lang="en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2008 ~ 2023</a:t>
            </a:r>
            <a:endParaRPr lang="en-US" altLang="ko-KR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  <a:p>
            <a:pPr>
              <a:lnSpc>
                <a:spcPts val="2310"/>
              </a:lnSpc>
            </a:pPr>
            <a:endParaRPr lang="en-US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pic>
        <p:nvPicPr>
          <p:cNvPr id="19" name="그림 18" descr="텍스트, 영수증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CCB1E5-0706-FF67-6ED3-E5CA915CA9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12" y="2476500"/>
            <a:ext cx="10114355" cy="3300967"/>
          </a:xfrm>
          <a:prstGeom prst="rect">
            <a:avLst/>
          </a:prstGeom>
        </p:spPr>
      </p:pic>
      <p:sp>
        <p:nvSpPr>
          <p:cNvPr id="22" name="TextBox 11">
            <a:extLst>
              <a:ext uri="{FF2B5EF4-FFF2-40B4-BE49-F238E27FC236}">
                <a16:creationId xmlns:a16="http://schemas.microsoft.com/office/drawing/2014/main" id="{B0EAFA81-0D59-FFBD-3C8A-F675828BD22A}"/>
              </a:ext>
            </a:extLst>
          </p:cNvPr>
          <p:cNvSpPr txBox="1"/>
          <p:nvPr/>
        </p:nvSpPr>
        <p:spPr>
          <a:xfrm>
            <a:off x="11311012" y="3048807"/>
            <a:ext cx="6976988" cy="2740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spc="-25" dirty="0">
                <a:latin typeface="NanumGothic"/>
                <a:ea typeface="NanumGothic"/>
                <a:cs typeface="NanumGothic"/>
                <a:sym typeface="Nanum Gothic"/>
              </a:rPr>
              <a:t>건강보험통계연보</a:t>
            </a:r>
            <a:endParaRPr lang="en-US" altLang="ko-KR" sz="3200" b="1" spc="-25" dirty="0">
              <a:latin typeface="NanumGothic"/>
              <a:ea typeface="NanumGothic"/>
              <a:cs typeface="NanumGothic"/>
              <a:sym typeface="Nanum Gothic"/>
            </a:endParaRPr>
          </a:p>
          <a:p>
            <a:pPr>
              <a:lnSpc>
                <a:spcPct val="150000"/>
              </a:lnSpc>
            </a:pP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기간</a:t>
            </a:r>
            <a:r>
              <a:rPr lang="en-US" altLang="ko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: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 </a:t>
            </a:r>
            <a:r>
              <a:rPr lang="en-US" altLang="ko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2008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년 </a:t>
            </a:r>
            <a:r>
              <a:rPr lang="en-US" altLang="ko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–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 </a:t>
            </a:r>
            <a:r>
              <a:rPr lang="en-US" altLang="ko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2023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년 </a:t>
            </a:r>
            <a:r>
              <a:rPr lang="en-US" altLang="ko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(16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개년</a:t>
            </a:r>
            <a:r>
              <a:rPr lang="en-US" altLang="ko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출처</a:t>
            </a:r>
            <a:r>
              <a:rPr lang="en-US" altLang="ko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: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 건강보험심사평가원</a:t>
            </a:r>
            <a:r>
              <a:rPr lang="en-US" altLang="ko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,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 국민건강보험공단</a:t>
            </a: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>
              <a:lnSpc>
                <a:spcPct val="150000"/>
              </a:lnSpc>
            </a:pPr>
            <a:r>
              <a:rPr lang="en" altLang="ko-KR" sz="1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  <a:hlinkClick r:id="rId6"/>
              </a:rPr>
              <a:t>https://www.hira.or.kr/bbsDummy.do?pgmid=HIRAA020045020000</a:t>
            </a:r>
            <a:endParaRPr lang="en-US" altLang="ko-KR" sz="1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>
              <a:lnSpc>
                <a:spcPct val="150000"/>
              </a:lnSpc>
            </a:pPr>
            <a:endParaRPr lang="en-US" altLang="ko-KR" sz="2800" spc="-25" dirty="0">
              <a:latin typeface="NanumGothic"/>
              <a:ea typeface="NanumGothic"/>
              <a:cs typeface="NanumGothic"/>
              <a:sym typeface="Nanum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90936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41BF0-2844-3AD7-5E8D-4D8224E9A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EDBDD3F-1501-78F9-1DA2-6B27D6725D01}"/>
              </a:ext>
            </a:extLst>
          </p:cNvPr>
          <p:cNvGrpSpPr/>
          <p:nvPr/>
        </p:nvGrpSpPr>
        <p:grpSpPr>
          <a:xfrm>
            <a:off x="0" y="10144057"/>
            <a:ext cx="18288000" cy="157327"/>
            <a:chOff x="0" y="0"/>
            <a:chExt cx="4816593" cy="4143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8498304-278E-B65F-E5D5-3BB50A3D93BE}"/>
                </a:ext>
              </a:extLst>
            </p:cNvPr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FE37CC5-3805-BCF6-D7DE-0DFF26BD5AF4}"/>
                </a:ext>
              </a:extLst>
            </p:cNvPr>
            <p:cNvSpPr txBox="1"/>
            <p:nvPr/>
          </p:nvSpPr>
          <p:spPr>
            <a:xfrm>
              <a:off x="0" y="-38100"/>
              <a:ext cx="4816593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53C94C7-CE2C-C2C6-16C3-F721DFB02AB3}"/>
              </a:ext>
            </a:extLst>
          </p:cNvPr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366D3BF-C317-55CF-D8DF-5EB87F7839DD}"/>
                </a:ext>
              </a:extLst>
            </p:cNvPr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46A642F-D9C5-02FD-2AAA-E82A2BF2BC6E}"/>
                </a:ext>
              </a:extLst>
            </p:cNvPr>
            <p:cNvSpPr txBox="1"/>
            <p:nvPr/>
          </p:nvSpPr>
          <p:spPr>
            <a:xfrm>
              <a:off x="0" y="-38100"/>
              <a:ext cx="2448435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14" name="TextBox 10">
            <a:extLst>
              <a:ext uri="{FF2B5EF4-FFF2-40B4-BE49-F238E27FC236}">
                <a16:creationId xmlns:a16="http://schemas.microsoft.com/office/drawing/2014/main" id="{E297DD0B-662C-814A-B3C5-170EF9630D20}"/>
              </a:ext>
            </a:extLst>
          </p:cNvPr>
          <p:cNvSpPr txBox="1"/>
          <p:nvPr/>
        </p:nvSpPr>
        <p:spPr>
          <a:xfrm rot="-18144">
            <a:off x="1493077" y="555735"/>
            <a:ext cx="5958941" cy="824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195"/>
              </a:lnSpc>
            </a:pPr>
            <a:r>
              <a:rPr lang="ko-KR" altLang="en-US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데이터 소개</a:t>
            </a:r>
            <a:endParaRPr lang="en-US" sz="5600" spc="-309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6" name="AutoShape 18">
            <a:extLst>
              <a:ext uri="{FF2B5EF4-FFF2-40B4-BE49-F238E27FC236}">
                <a16:creationId xmlns:a16="http://schemas.microsoft.com/office/drawing/2014/main" id="{F17073E9-6A06-9E39-B30F-77A8834350FF}"/>
              </a:ext>
            </a:extLst>
          </p:cNvPr>
          <p:cNvSpPr/>
          <p:nvPr/>
        </p:nvSpPr>
        <p:spPr>
          <a:xfrm>
            <a:off x="726970" y="2171700"/>
            <a:ext cx="16708947" cy="0"/>
          </a:xfrm>
          <a:prstGeom prst="line">
            <a:avLst/>
          </a:prstGeom>
          <a:ln w="9525" cap="flat">
            <a:solidFill>
              <a:srgbClr val="5E61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4E552929-E3ED-B18D-4610-D92D949D79FE}"/>
              </a:ext>
            </a:extLst>
          </p:cNvPr>
          <p:cNvSpPr txBox="1"/>
          <p:nvPr/>
        </p:nvSpPr>
        <p:spPr>
          <a:xfrm>
            <a:off x="726970" y="708723"/>
            <a:ext cx="1042830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</a:t>
            </a:r>
            <a:r>
              <a:rPr lang="en-US" altLang="ko-KR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2</a:t>
            </a:r>
            <a:endParaRPr lang="en-US" sz="4000" spc="-57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8562A908-56EE-0269-7FE0-68D9AD9F4A0E}"/>
              </a:ext>
            </a:extLst>
          </p:cNvPr>
          <p:cNvSpPr txBox="1"/>
          <p:nvPr/>
        </p:nvSpPr>
        <p:spPr>
          <a:xfrm>
            <a:off x="1490942" y="1559508"/>
            <a:ext cx="11158258" cy="602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en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Korean National Health Insurance Claims Data (HIRA),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 </a:t>
            </a:r>
            <a:r>
              <a:rPr lang="en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2008 ~ 2023</a:t>
            </a:r>
            <a:endParaRPr lang="en-US" altLang="ko-KR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  <a:p>
            <a:pPr>
              <a:lnSpc>
                <a:spcPts val="2310"/>
              </a:lnSpc>
            </a:pPr>
            <a:endParaRPr lang="en-US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graphicFrame>
        <p:nvGraphicFramePr>
          <p:cNvPr id="8" name="Table 14">
            <a:extLst>
              <a:ext uri="{FF2B5EF4-FFF2-40B4-BE49-F238E27FC236}">
                <a16:creationId xmlns:a16="http://schemas.microsoft.com/office/drawing/2014/main" id="{3677AB01-D57A-95FA-F363-C2D1E3F7D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485805"/>
              </p:ext>
            </p:extLst>
          </p:nvPr>
        </p:nvGraphicFramePr>
        <p:xfrm>
          <a:off x="9630567" y="2633603"/>
          <a:ext cx="6781800" cy="704088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dirty="0">
                          <a:solidFill>
                            <a:schemeClr val="bg1"/>
                          </a:solidFill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22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대 질병분류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A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명칭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78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특정감염성 및 기생충성 질환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 err="1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신생물</a:t>
                      </a:r>
                      <a:endParaRPr lang="ko-KR" altLang="en-US" sz="1600" dirty="0">
                        <a:effectLst/>
                        <a:latin typeface="NanumGothic" pitchFamily="2" charset="-127"/>
                        <a:ea typeface="NanumGothic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혈액 및 조혈기관의 질환과 면역기전을 침범한 특정 장애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263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내분비</a:t>
                      </a:r>
                      <a:r>
                        <a:rPr lang="en-US" altLang="ko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영양 및 대사질환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366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정신 및 행동장애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400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신경계의 질환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304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눈 및 눈 부속기관의 질환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53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귀 및 </a:t>
                      </a:r>
                      <a:r>
                        <a:rPr lang="ko-KR" altLang="en-US" sz="1600" dirty="0" err="1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유양돌기의</a:t>
                      </a: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 질환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3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순환기계의 질환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402917"/>
                  </a:ext>
                </a:extLst>
              </a:tr>
              <a:tr h="1509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호흡기계의 질환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148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11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소화기계의 질환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328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피부 및 피하조직의 질환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393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13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근골격계 및 결합조직의 질환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203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비뇨생식기계의 질환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613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15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임신</a:t>
                      </a:r>
                      <a:r>
                        <a:rPr lang="en-US" altLang="ko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출산 및 </a:t>
                      </a:r>
                      <a:r>
                        <a:rPr lang="ko-KR" altLang="en-US" sz="1600" dirty="0" err="1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산후기</a:t>
                      </a:r>
                      <a:endParaRPr lang="ko-KR" altLang="en-US" sz="1600" dirty="0">
                        <a:effectLst/>
                        <a:latin typeface="NanumGothic" pitchFamily="2" charset="-127"/>
                        <a:ea typeface="NanumGothic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660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16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주산기에 기원한 특정병태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675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17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선천성기형</a:t>
                      </a:r>
                      <a:r>
                        <a:rPr lang="en-US" altLang="ko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변형 및 염색체 이상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071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달리 분류되지 않은 증상</a:t>
                      </a:r>
                      <a:r>
                        <a:rPr lang="en-US" altLang="ko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징후와 임상 및 검사의 이상 소견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361483"/>
                  </a:ext>
                </a:extLst>
              </a:tr>
              <a:tr h="1356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19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손상</a:t>
                      </a:r>
                      <a:r>
                        <a:rPr lang="en-US" altLang="ko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중독 및 외인에 의한 특정 기타 결과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563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21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effectLst/>
                          <a:latin typeface="NanumGothic" pitchFamily="2" charset="-127"/>
                          <a:ea typeface="NanumGothic" pitchFamily="2" charset="-127"/>
                        </a:rPr>
                        <a:t>건강상태 및 보건서비스 접촉에 영향을 주는 요인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737498"/>
                  </a:ext>
                </a:extLst>
              </a:tr>
            </a:tbl>
          </a:graphicData>
        </a:graphic>
      </p:graphicFrame>
      <p:grpSp>
        <p:nvGrpSpPr>
          <p:cNvPr id="26" name="그룹 25">
            <a:extLst>
              <a:ext uri="{FF2B5EF4-FFF2-40B4-BE49-F238E27FC236}">
                <a16:creationId xmlns:a16="http://schemas.microsoft.com/office/drawing/2014/main" id="{8866AAFA-EC41-8CFB-6E7C-972BD3ADCCB8}"/>
              </a:ext>
            </a:extLst>
          </p:cNvPr>
          <p:cNvGrpSpPr/>
          <p:nvPr/>
        </p:nvGrpSpPr>
        <p:grpSpPr>
          <a:xfrm>
            <a:off x="1490942" y="2633603"/>
            <a:ext cx="7895615" cy="6777093"/>
            <a:chOff x="1248385" y="2455589"/>
            <a:chExt cx="7895615" cy="6113487"/>
          </a:xfrm>
        </p:grpSpPr>
        <p:grpSp>
          <p:nvGrpSpPr>
            <p:cNvPr id="23" name="Group 14">
              <a:extLst>
                <a:ext uri="{FF2B5EF4-FFF2-40B4-BE49-F238E27FC236}">
                  <a16:creationId xmlns:a16="http://schemas.microsoft.com/office/drawing/2014/main" id="{A4A7B397-4444-08EE-6F30-E2410A0537FD}"/>
                </a:ext>
              </a:extLst>
            </p:cNvPr>
            <p:cNvGrpSpPr/>
            <p:nvPr/>
          </p:nvGrpSpPr>
          <p:grpSpPr>
            <a:xfrm>
              <a:off x="1248385" y="2455589"/>
              <a:ext cx="6828816" cy="5823710"/>
              <a:chOff x="0" y="0"/>
              <a:chExt cx="4073918" cy="429424"/>
            </a:xfrm>
          </p:grpSpPr>
          <p:sp>
            <p:nvSpPr>
              <p:cNvPr id="24" name="Freeform 15">
                <a:extLst>
                  <a:ext uri="{FF2B5EF4-FFF2-40B4-BE49-F238E27FC236}">
                    <a16:creationId xmlns:a16="http://schemas.microsoft.com/office/drawing/2014/main" id="{A996B3F0-D368-974C-85C1-A356D2ADDCA7}"/>
                  </a:ext>
                </a:extLst>
              </p:cNvPr>
              <p:cNvSpPr/>
              <p:nvPr/>
            </p:nvSpPr>
            <p:spPr>
              <a:xfrm>
                <a:off x="0" y="0"/>
                <a:ext cx="4073918" cy="429424"/>
              </a:xfrm>
              <a:custGeom>
                <a:avLst/>
                <a:gdLst/>
                <a:ahLst/>
                <a:cxnLst/>
                <a:rect l="l" t="t" r="r" b="b"/>
                <a:pathLst>
                  <a:path w="4073918" h="429424">
                    <a:moveTo>
                      <a:pt x="10010" y="0"/>
                    </a:moveTo>
                    <a:lnTo>
                      <a:pt x="4063908" y="0"/>
                    </a:lnTo>
                    <a:cubicBezTo>
                      <a:pt x="4069437" y="0"/>
                      <a:pt x="4073918" y="4482"/>
                      <a:pt x="4073918" y="10010"/>
                    </a:cubicBezTo>
                    <a:lnTo>
                      <a:pt x="4073918" y="419414"/>
                    </a:lnTo>
                    <a:cubicBezTo>
                      <a:pt x="4073918" y="422069"/>
                      <a:pt x="4072864" y="424615"/>
                      <a:pt x="4070986" y="426492"/>
                    </a:cubicBezTo>
                    <a:cubicBezTo>
                      <a:pt x="4069109" y="428370"/>
                      <a:pt x="4066563" y="429424"/>
                      <a:pt x="4063908" y="429424"/>
                    </a:cubicBezTo>
                    <a:lnTo>
                      <a:pt x="10010" y="429424"/>
                    </a:lnTo>
                    <a:cubicBezTo>
                      <a:pt x="7355" y="429424"/>
                      <a:pt x="4809" y="428370"/>
                      <a:pt x="2932" y="426492"/>
                    </a:cubicBezTo>
                    <a:cubicBezTo>
                      <a:pt x="1055" y="424615"/>
                      <a:pt x="0" y="422069"/>
                      <a:pt x="0" y="419414"/>
                    </a:cubicBezTo>
                    <a:lnTo>
                      <a:pt x="0" y="10010"/>
                    </a:lnTo>
                    <a:cubicBezTo>
                      <a:pt x="0" y="7355"/>
                      <a:pt x="1055" y="4809"/>
                      <a:pt x="2932" y="2932"/>
                    </a:cubicBezTo>
                    <a:cubicBezTo>
                      <a:pt x="4809" y="1055"/>
                      <a:pt x="7355" y="0"/>
                      <a:pt x="10010" y="0"/>
                    </a:cubicBezTo>
                    <a:close/>
                  </a:path>
                </a:pathLst>
              </a:custGeom>
              <a:solidFill>
                <a:srgbClr val="E5E8EA"/>
              </a:solidFill>
              <a:ln w="38100" cap="sq">
                <a:solidFill>
                  <a:srgbClr val="6A787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ore-KR" altLang="en-US"/>
              </a:p>
            </p:txBody>
          </p:sp>
          <p:sp>
            <p:nvSpPr>
              <p:cNvPr id="25" name="TextBox 16">
                <a:extLst>
                  <a:ext uri="{FF2B5EF4-FFF2-40B4-BE49-F238E27FC236}">
                    <a16:creationId xmlns:a16="http://schemas.microsoft.com/office/drawing/2014/main" id="{E9756C99-B33A-F0A6-20FF-7ACE9DF6E92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073918" cy="4675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33"/>
                  </a:lnSpc>
                </a:pPr>
                <a:endParaRPr/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3B731D71-6947-6767-5C9D-21DC071E71D0}"/>
                </a:ext>
              </a:extLst>
            </p:cNvPr>
            <p:cNvGrpSpPr/>
            <p:nvPr/>
          </p:nvGrpSpPr>
          <p:grpSpPr>
            <a:xfrm>
              <a:off x="1638519" y="3245407"/>
              <a:ext cx="7505481" cy="5323669"/>
              <a:chOff x="1409919" y="2476296"/>
              <a:chExt cx="7505481" cy="5323669"/>
            </a:xfrm>
          </p:grpSpPr>
          <p:sp>
            <p:nvSpPr>
              <p:cNvPr id="10" name="TextBox 14">
                <a:extLst>
                  <a:ext uri="{FF2B5EF4-FFF2-40B4-BE49-F238E27FC236}">
                    <a16:creationId xmlns:a16="http://schemas.microsoft.com/office/drawing/2014/main" id="{6CA750DE-42F4-8383-745A-FB14260027B7}"/>
                  </a:ext>
                </a:extLst>
              </p:cNvPr>
              <p:cNvSpPr txBox="1"/>
              <p:nvPr/>
            </p:nvSpPr>
            <p:spPr>
              <a:xfrm>
                <a:off x="1409919" y="2476296"/>
                <a:ext cx="1942881" cy="531094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3783"/>
                  </a:lnSpc>
                </a:pPr>
                <a:r>
                  <a:rPr lang="ko-KR" altLang="en-US" sz="2349" b="1" spc="-119" dirty="0">
                    <a:solidFill>
                      <a:srgbClr val="000000"/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연도</a:t>
                </a:r>
                <a:endParaRPr lang="en-US" altLang="ko-KR" sz="2349" b="1" spc="-119" dirty="0">
                  <a:solidFill>
                    <a:srgbClr val="000000"/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  <a:p>
                <a:pPr>
                  <a:lnSpc>
                    <a:spcPts val="3783"/>
                  </a:lnSpc>
                </a:pPr>
                <a:r>
                  <a:rPr lang="ko-KR" altLang="en-US" sz="2349" b="1" spc="-119" dirty="0">
                    <a:solidFill>
                      <a:srgbClr val="000000"/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연령</a:t>
                </a:r>
                <a:endParaRPr lang="en-US" altLang="ko-KR" sz="2349" b="1" spc="-119" dirty="0">
                  <a:solidFill>
                    <a:srgbClr val="000000"/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  <a:p>
                <a:pPr>
                  <a:lnSpc>
                    <a:spcPts val="3783"/>
                  </a:lnSpc>
                </a:pPr>
                <a:r>
                  <a:rPr lang="ko-KR" altLang="en-US" sz="2349" b="1" spc="-119" dirty="0">
                    <a:solidFill>
                      <a:srgbClr val="000000"/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진료형태</a:t>
                </a:r>
                <a:endParaRPr lang="en-US" altLang="ko-KR" sz="2349" b="1" spc="-119" dirty="0">
                  <a:solidFill>
                    <a:srgbClr val="000000"/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  <a:p>
                <a:pPr>
                  <a:lnSpc>
                    <a:spcPts val="3783"/>
                  </a:lnSpc>
                </a:pPr>
                <a:r>
                  <a:rPr lang="ko-KR" altLang="en-US" sz="2349" b="1" spc="-119" dirty="0">
                    <a:solidFill>
                      <a:srgbClr val="000000"/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질병분류</a:t>
                </a:r>
                <a:r>
                  <a:rPr lang="en-US" altLang="ko-KR" sz="2349" b="1" spc="-119" dirty="0">
                    <a:solidFill>
                      <a:srgbClr val="000000"/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_22</a:t>
                </a:r>
              </a:p>
              <a:p>
                <a:pPr>
                  <a:lnSpc>
                    <a:spcPts val="3783"/>
                  </a:lnSpc>
                </a:pPr>
                <a:r>
                  <a:rPr lang="ko-KR" altLang="en-US" sz="2349" b="1" spc="-119" dirty="0" err="1">
                    <a:solidFill>
                      <a:srgbClr val="000000"/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진료실인원수</a:t>
                </a:r>
                <a:endParaRPr lang="en-US" altLang="ko-KR" sz="2349" b="1" spc="-119" dirty="0">
                  <a:solidFill>
                    <a:srgbClr val="000000"/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  <a:p>
                <a:pPr>
                  <a:lnSpc>
                    <a:spcPts val="3783"/>
                  </a:lnSpc>
                </a:pPr>
                <a:r>
                  <a:rPr lang="ko-KR" altLang="en-US" sz="2349" b="1" spc="-119" dirty="0">
                    <a:solidFill>
                      <a:srgbClr val="000000"/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입내원일수</a:t>
                </a:r>
                <a:endParaRPr lang="en-US" altLang="ko-KR" sz="2349" b="1" spc="-119" dirty="0">
                  <a:solidFill>
                    <a:srgbClr val="000000"/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  <a:p>
                <a:pPr>
                  <a:lnSpc>
                    <a:spcPts val="3783"/>
                  </a:lnSpc>
                </a:pPr>
                <a:r>
                  <a:rPr lang="ko-KR" altLang="en-US" sz="2349" b="1" spc="-119" dirty="0">
                    <a:solidFill>
                      <a:srgbClr val="000000"/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요양급여일수</a:t>
                </a:r>
                <a:endParaRPr lang="en-US" altLang="ko-KR" sz="2349" b="1" spc="-119" dirty="0">
                  <a:solidFill>
                    <a:srgbClr val="000000"/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  <a:p>
                <a:pPr>
                  <a:lnSpc>
                    <a:spcPts val="3783"/>
                  </a:lnSpc>
                </a:pPr>
                <a:r>
                  <a:rPr lang="ko-KR" altLang="en-US" sz="2349" b="1" spc="-119" dirty="0">
                    <a:solidFill>
                      <a:srgbClr val="000000"/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진료비</a:t>
                </a:r>
                <a:endParaRPr lang="en-US" altLang="ko-KR" sz="2349" b="1" spc="-119" dirty="0">
                  <a:solidFill>
                    <a:srgbClr val="000000"/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  <a:p>
                <a:pPr>
                  <a:lnSpc>
                    <a:spcPts val="3783"/>
                  </a:lnSpc>
                </a:pPr>
                <a:r>
                  <a:rPr lang="ko-KR" altLang="en-US" sz="2349" b="1" spc="-119" dirty="0" err="1">
                    <a:solidFill>
                      <a:srgbClr val="000000"/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급여비</a:t>
                </a:r>
                <a:endParaRPr lang="en-US" altLang="ko-KR" sz="2349" b="1" spc="-119" dirty="0">
                  <a:solidFill>
                    <a:srgbClr val="000000"/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  <a:p>
                <a:pPr>
                  <a:lnSpc>
                    <a:spcPts val="3783"/>
                  </a:lnSpc>
                </a:pPr>
                <a:r>
                  <a:rPr lang="ko-KR" altLang="en-US" sz="2349" b="1" spc="-119" dirty="0">
                    <a:solidFill>
                      <a:srgbClr val="000000"/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본인부담금</a:t>
                </a:r>
                <a:endParaRPr lang="en-US" altLang="ko-KR" sz="2349" b="1" spc="-119" dirty="0">
                  <a:solidFill>
                    <a:srgbClr val="000000"/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  <a:p>
                <a:pPr>
                  <a:lnSpc>
                    <a:spcPts val="3783"/>
                  </a:lnSpc>
                </a:pPr>
                <a:r>
                  <a:rPr lang="ko-KR" altLang="en-US" sz="2349" b="1" spc="-119" dirty="0" err="1">
                    <a:solidFill>
                      <a:srgbClr val="000000"/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본인부담률</a:t>
                </a:r>
                <a:endParaRPr lang="en-US" altLang="ko-KR" sz="2349" b="1" spc="-119" dirty="0">
                  <a:solidFill>
                    <a:srgbClr val="000000"/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</p:txBody>
          </p:sp>
          <p:sp>
            <p:nvSpPr>
              <p:cNvPr id="11" name="TextBox 14">
                <a:extLst>
                  <a:ext uri="{FF2B5EF4-FFF2-40B4-BE49-F238E27FC236}">
                    <a16:creationId xmlns:a16="http://schemas.microsoft.com/office/drawing/2014/main" id="{530EF1B9-F8AA-A685-F666-9DFE8F06754C}"/>
                  </a:ext>
                </a:extLst>
              </p:cNvPr>
              <p:cNvSpPr txBox="1"/>
              <p:nvPr/>
            </p:nvSpPr>
            <p:spPr>
              <a:xfrm>
                <a:off x="3386847" y="2489088"/>
                <a:ext cx="5528553" cy="531087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3783"/>
                  </a:lnSpc>
                </a:pPr>
                <a:r>
                  <a:rPr lang="en-US" altLang="ko-KR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2008</a:t>
                </a:r>
                <a:r>
                  <a:rPr lang="ko-KR" altLang="en-US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년 </a:t>
                </a:r>
                <a:r>
                  <a:rPr lang="en-US" altLang="ko-KR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~</a:t>
                </a:r>
                <a:r>
                  <a:rPr lang="ko-KR" altLang="en-US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 </a:t>
                </a:r>
                <a:r>
                  <a:rPr lang="en-US" altLang="ko-KR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2023</a:t>
                </a:r>
                <a:r>
                  <a:rPr lang="ko-KR" altLang="en-US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년</a:t>
                </a:r>
                <a:endParaRPr lang="en-US" altLang="ko-KR" sz="2349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  <a:p>
                <a:pPr>
                  <a:lnSpc>
                    <a:spcPts val="3783"/>
                  </a:lnSpc>
                </a:pPr>
                <a:r>
                  <a:rPr lang="en-US" altLang="ko-KR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5</a:t>
                </a:r>
                <a:r>
                  <a:rPr lang="ko-KR" altLang="en-US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세 단위 연령 구분</a:t>
                </a:r>
                <a:endParaRPr lang="en-US" altLang="ko-KR" sz="2349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  <a:p>
                <a:pPr>
                  <a:lnSpc>
                    <a:spcPts val="3783"/>
                  </a:lnSpc>
                </a:pPr>
                <a:r>
                  <a:rPr lang="ko-KR" altLang="en-US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입원 </a:t>
                </a:r>
                <a:r>
                  <a:rPr lang="en-US" altLang="ko-KR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/</a:t>
                </a:r>
                <a:r>
                  <a:rPr lang="ko-KR" altLang="en-US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 외래</a:t>
                </a:r>
                <a:endParaRPr lang="en-US" altLang="ko-KR" sz="2349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  <a:p>
                <a:pPr>
                  <a:lnSpc>
                    <a:spcPts val="3783"/>
                  </a:lnSpc>
                </a:pPr>
                <a:r>
                  <a:rPr lang="en-US" altLang="ko-KR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22</a:t>
                </a:r>
                <a:r>
                  <a:rPr lang="ko-KR" altLang="en-US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대 질병분류</a:t>
                </a:r>
                <a:endParaRPr lang="en-US" altLang="ko-KR" sz="2349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  <a:p>
                <a:pPr>
                  <a:lnSpc>
                    <a:spcPts val="3783"/>
                  </a:lnSpc>
                </a:pPr>
                <a:r>
                  <a:rPr lang="ko-KR" altLang="en-US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진료 받은 환자 수</a:t>
                </a:r>
                <a:endParaRPr lang="en-US" altLang="ko-KR" sz="2349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  <a:p>
                <a:pPr>
                  <a:lnSpc>
                    <a:spcPts val="3783"/>
                  </a:lnSpc>
                </a:pPr>
                <a:r>
                  <a:rPr lang="ko-KR" altLang="en-US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환자의 요양기관 방문 및 입원 일수</a:t>
                </a:r>
                <a:endParaRPr lang="en-US" altLang="ko-KR" sz="2349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  <a:p>
                <a:pPr>
                  <a:lnSpc>
                    <a:spcPts val="3783"/>
                  </a:lnSpc>
                </a:pPr>
                <a:endParaRPr lang="en-US" altLang="ko-KR" sz="2349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  <a:p>
                <a:pPr>
                  <a:lnSpc>
                    <a:spcPts val="3783"/>
                  </a:lnSpc>
                </a:pPr>
                <a:r>
                  <a:rPr lang="ko-KR" altLang="en-US" sz="2349" spc="-119" dirty="0" err="1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급여비</a:t>
                </a:r>
                <a:r>
                  <a:rPr lang="ko-KR" altLang="en-US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 </a:t>
                </a:r>
                <a:r>
                  <a:rPr lang="en-US" altLang="ko-KR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+</a:t>
                </a:r>
                <a:r>
                  <a:rPr lang="ko-KR" altLang="en-US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 본인부담금</a:t>
                </a:r>
                <a:endParaRPr lang="en-US" altLang="ko-KR" sz="2349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  <a:p>
                <a:pPr>
                  <a:lnSpc>
                    <a:spcPts val="3783"/>
                  </a:lnSpc>
                </a:pPr>
                <a:endParaRPr lang="en-US" altLang="ko-KR" sz="2349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  <a:p>
                <a:pPr>
                  <a:lnSpc>
                    <a:spcPts val="3783"/>
                  </a:lnSpc>
                </a:pPr>
                <a:endParaRPr lang="en-US" altLang="ko-KR" sz="2349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  <a:p>
                <a:pPr>
                  <a:lnSpc>
                    <a:spcPts val="3783"/>
                  </a:lnSpc>
                </a:pPr>
                <a:r>
                  <a:rPr lang="ko-KR" altLang="en-US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본인부담금 </a:t>
                </a:r>
                <a:r>
                  <a:rPr lang="en-US" altLang="ko-KR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/</a:t>
                </a:r>
                <a:r>
                  <a:rPr lang="ko-KR" altLang="en-US" sz="2349" spc="-119" dirty="0">
                    <a:solidFill>
                      <a:srgbClr val="222222">
                        <a:alpha val="61961"/>
                      </a:srgb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 진료비</a:t>
                </a:r>
                <a:endParaRPr lang="en-US" altLang="ko-KR" sz="2349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96FFBE62-3549-2EA6-52A5-59387EC32E68}"/>
                </a:ext>
              </a:extLst>
            </p:cNvPr>
            <p:cNvGrpSpPr/>
            <p:nvPr/>
          </p:nvGrpSpPr>
          <p:grpSpPr>
            <a:xfrm>
              <a:off x="1428619" y="2651419"/>
              <a:ext cx="2672224" cy="601690"/>
              <a:chOff x="2086825" y="2579902"/>
              <a:chExt cx="2672224" cy="601690"/>
            </a:xfrm>
          </p:grpSpPr>
          <p:sp>
            <p:nvSpPr>
              <p:cNvPr id="12" name="TextBox 14">
                <a:extLst>
                  <a:ext uri="{FF2B5EF4-FFF2-40B4-BE49-F238E27FC236}">
                    <a16:creationId xmlns:a16="http://schemas.microsoft.com/office/drawing/2014/main" id="{CE4FCC2A-62EB-81C9-CE51-7D7F20236943}"/>
                  </a:ext>
                </a:extLst>
              </p:cNvPr>
              <p:cNvSpPr txBox="1"/>
              <p:nvPr/>
            </p:nvSpPr>
            <p:spPr>
              <a:xfrm>
                <a:off x="2816168" y="2579902"/>
                <a:ext cx="1942881" cy="48731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3783"/>
                  </a:lnSpc>
                </a:pPr>
                <a:r>
                  <a:rPr lang="ko-KR" altLang="en-US" sz="3200" b="1" spc="-119" dirty="0">
                    <a:solidFill>
                      <a:srgbClr val="000000"/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변수</a:t>
                </a:r>
                <a:endParaRPr lang="en-US" altLang="ko-KR" sz="3200" b="1" spc="-119" dirty="0">
                  <a:solidFill>
                    <a:srgbClr val="000000"/>
                  </a:solidFill>
                  <a:latin typeface="NanumGothic"/>
                  <a:ea typeface="NanumGothic"/>
                  <a:cs typeface="NanumGothic"/>
                  <a:sym typeface="Nanum Gothic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B99F68E-7BFC-CE6B-229A-584C40D43F81}"/>
                  </a:ext>
                </a:extLst>
              </p:cNvPr>
              <p:cNvSpPr txBox="1"/>
              <p:nvPr/>
            </p:nvSpPr>
            <p:spPr>
              <a:xfrm>
                <a:off x="2086825" y="2596817"/>
                <a:ext cx="6858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3200" spc="-119" dirty="0">
                    <a:solidFill>
                      <a:schemeClr val="tx1">
                        <a:alpha val="61961"/>
                      </a:schemeClr>
                    </a:solidFill>
                    <a:latin typeface="NanumGothic"/>
                    <a:ea typeface="NanumGothic"/>
                    <a:cs typeface="NanumGothic"/>
                    <a:sym typeface="Nanum Gothic"/>
                  </a:rPr>
                  <a:t>✅ </a:t>
                </a:r>
                <a:endParaRPr lang="ko-Kore-KR" altLang="en-US" sz="3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8131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9E0E1-BB95-9B87-7D03-AAED3EF63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32C5D85-A06A-4817-E0A5-AD61D3C228E5}"/>
              </a:ext>
            </a:extLst>
          </p:cNvPr>
          <p:cNvGrpSpPr/>
          <p:nvPr/>
        </p:nvGrpSpPr>
        <p:grpSpPr>
          <a:xfrm>
            <a:off x="0" y="10144057"/>
            <a:ext cx="18288000" cy="157327"/>
            <a:chOff x="0" y="0"/>
            <a:chExt cx="4816593" cy="4143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4174051-EF55-FED1-8CFD-81C137DAE0A8}"/>
                </a:ext>
              </a:extLst>
            </p:cNvPr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69C0C10-2F78-A2D1-A3A4-61DC569B9F50}"/>
                </a:ext>
              </a:extLst>
            </p:cNvPr>
            <p:cNvSpPr txBox="1"/>
            <p:nvPr/>
          </p:nvSpPr>
          <p:spPr>
            <a:xfrm>
              <a:off x="0" y="-38100"/>
              <a:ext cx="4816593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B4103D1-5698-EB3C-A744-43F9F41FD023}"/>
              </a:ext>
            </a:extLst>
          </p:cNvPr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5CC6F41-256B-CC20-8134-60C0E35E7BB8}"/>
                </a:ext>
              </a:extLst>
            </p:cNvPr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D5A2F06-97C0-12EA-BC8E-D4328397A6D2}"/>
                </a:ext>
              </a:extLst>
            </p:cNvPr>
            <p:cNvSpPr txBox="1"/>
            <p:nvPr/>
          </p:nvSpPr>
          <p:spPr>
            <a:xfrm>
              <a:off x="0" y="-38100"/>
              <a:ext cx="2448435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14" name="TextBox 10">
            <a:extLst>
              <a:ext uri="{FF2B5EF4-FFF2-40B4-BE49-F238E27FC236}">
                <a16:creationId xmlns:a16="http://schemas.microsoft.com/office/drawing/2014/main" id="{BC81F653-8B9E-E276-BF61-A7BC965EEF61}"/>
              </a:ext>
            </a:extLst>
          </p:cNvPr>
          <p:cNvSpPr txBox="1"/>
          <p:nvPr/>
        </p:nvSpPr>
        <p:spPr>
          <a:xfrm rot="-18144">
            <a:off x="1493048" y="559824"/>
            <a:ext cx="10012374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195"/>
              </a:lnSpc>
            </a:pPr>
            <a:r>
              <a:rPr lang="en-US" altLang="ko-KR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[A]</a:t>
            </a:r>
            <a:r>
              <a:rPr lang="ko-KR" altLang="en-US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 현재 의료비 구조의 특징</a:t>
            </a:r>
            <a:endParaRPr lang="en-US" sz="5600" spc="-309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6" name="AutoShape 18">
            <a:extLst>
              <a:ext uri="{FF2B5EF4-FFF2-40B4-BE49-F238E27FC236}">
                <a16:creationId xmlns:a16="http://schemas.microsoft.com/office/drawing/2014/main" id="{EE8A4F5A-9EB3-CB10-CD71-A285F1F05DED}"/>
              </a:ext>
            </a:extLst>
          </p:cNvPr>
          <p:cNvSpPr/>
          <p:nvPr/>
        </p:nvSpPr>
        <p:spPr>
          <a:xfrm>
            <a:off x="726970" y="2171700"/>
            <a:ext cx="16708947" cy="0"/>
          </a:xfrm>
          <a:prstGeom prst="line">
            <a:avLst/>
          </a:prstGeom>
          <a:ln w="9525" cap="flat">
            <a:solidFill>
              <a:srgbClr val="5E61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9E51E40A-5604-0BC9-A7D5-9E4514C13D99}"/>
              </a:ext>
            </a:extLst>
          </p:cNvPr>
          <p:cNvSpPr txBox="1"/>
          <p:nvPr/>
        </p:nvSpPr>
        <p:spPr>
          <a:xfrm>
            <a:off x="726970" y="708723"/>
            <a:ext cx="1042830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</a:t>
            </a:r>
            <a:r>
              <a:rPr lang="en-US" altLang="ko-KR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3</a:t>
            </a:r>
            <a:endParaRPr lang="en-US" sz="4000" spc="-57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C061BFF2-0D74-BE6C-6087-45C525BBFC3C}"/>
              </a:ext>
            </a:extLst>
          </p:cNvPr>
          <p:cNvSpPr txBox="1"/>
          <p:nvPr/>
        </p:nvSpPr>
        <p:spPr>
          <a:xfrm>
            <a:off x="1567142" y="1559508"/>
            <a:ext cx="11158258" cy="602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[A-1] 1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인당 진료비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: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 가장 비싼 질병 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+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 가장 싼 질병</a:t>
            </a:r>
            <a:endParaRPr lang="en-US" altLang="ko-KR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  <a:p>
            <a:pPr>
              <a:lnSpc>
                <a:spcPts val="2310"/>
              </a:lnSpc>
            </a:pPr>
            <a:endParaRPr lang="en-US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C7667947-FE34-A32E-361A-C07F0DA59D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pic>
        <p:nvPicPr>
          <p:cNvPr id="27" name="그림 26" descr="라인, 그래프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CEE7CB-8C2D-512A-E92F-A45215AAC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167" y="2476500"/>
            <a:ext cx="13525662" cy="6311975"/>
          </a:xfrm>
          <a:prstGeom prst="rect">
            <a:avLst/>
          </a:prstGeom>
        </p:spPr>
      </p:pic>
      <p:sp>
        <p:nvSpPr>
          <p:cNvPr id="28" name="TextBox 11">
            <a:extLst>
              <a:ext uri="{FF2B5EF4-FFF2-40B4-BE49-F238E27FC236}">
                <a16:creationId xmlns:a16="http://schemas.microsoft.com/office/drawing/2014/main" id="{B730F07B-5501-FF09-47D5-BBAE8758DB6D}"/>
              </a:ext>
            </a:extLst>
          </p:cNvPr>
          <p:cNvSpPr txBox="1"/>
          <p:nvPr/>
        </p:nvSpPr>
        <p:spPr>
          <a:xfrm>
            <a:off x="1807404" y="9219303"/>
            <a:ext cx="14673188" cy="500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📌 </a:t>
            </a:r>
            <a:r>
              <a:rPr lang="ko-Kore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가장 </a:t>
            </a:r>
            <a:r>
              <a:rPr lang="ko-Kore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비싼</a:t>
            </a:r>
            <a:r>
              <a:rPr lang="ko-Kore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 질병은</a:t>
            </a:r>
            <a:r>
              <a:rPr lang="en-US" altLang="ko-Kore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 </a:t>
            </a:r>
            <a:r>
              <a:rPr lang="en-US" altLang="ko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2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번에서</a:t>
            </a:r>
            <a:r>
              <a:rPr lang="en-US" altLang="ko-Kore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sym typeface="Nanum Gothic"/>
              </a:rPr>
              <a:t> </a:t>
            </a:r>
            <a:r>
              <a:rPr lang="en-US" altLang="ko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sym typeface="Nanum Gothic"/>
              </a:rPr>
              <a:t>16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sym typeface="Nanum Gothic"/>
              </a:rPr>
              <a:t>번으로 변화</a:t>
            </a:r>
            <a:r>
              <a:rPr lang="en-US" altLang="ko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sym typeface="Nanum Gothic"/>
              </a:rPr>
              <a:t>, 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sym typeface="Nanum Gothic"/>
              </a:rPr>
              <a:t>가장 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sym typeface="Nanum Gothic"/>
              </a:rPr>
              <a:t>싼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sym typeface="Nanum Gothic"/>
              </a:rPr>
              <a:t> 질병은</a:t>
            </a:r>
            <a:r>
              <a:rPr lang="en-US" altLang="ko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sym typeface="Nanum Gothic"/>
              </a:rPr>
              <a:t> 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sym typeface="Nanum Gothic"/>
              </a:rPr>
              <a:t>매년 대부분 </a:t>
            </a:r>
            <a:r>
              <a:rPr lang="ko-KR" altLang="en-US" sz="2400" spc="-25" dirty="0" err="1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sym typeface="Nanum Gothic"/>
              </a:rPr>
              <a:t>비슷</a:t>
            </a:r>
            <a:endParaRPr lang="ko-Kore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41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88F05-FD5C-5408-A6AD-BD737C981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6E031F3-0872-562D-F8DF-6569B056F78F}"/>
              </a:ext>
            </a:extLst>
          </p:cNvPr>
          <p:cNvGrpSpPr/>
          <p:nvPr/>
        </p:nvGrpSpPr>
        <p:grpSpPr>
          <a:xfrm>
            <a:off x="0" y="10144057"/>
            <a:ext cx="18288000" cy="157327"/>
            <a:chOff x="0" y="0"/>
            <a:chExt cx="4816593" cy="4143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C522AC9-97C8-8B0D-BE71-5E80DA9AAF46}"/>
                </a:ext>
              </a:extLst>
            </p:cNvPr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66FB1A4-6595-1345-5BC3-B9207FB28C98}"/>
                </a:ext>
              </a:extLst>
            </p:cNvPr>
            <p:cNvSpPr txBox="1"/>
            <p:nvPr/>
          </p:nvSpPr>
          <p:spPr>
            <a:xfrm>
              <a:off x="0" y="-38100"/>
              <a:ext cx="4816593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F9733CC-62C7-EC23-FF35-4AAB1FA1084C}"/>
              </a:ext>
            </a:extLst>
          </p:cNvPr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9FE531F-3ACC-8C80-FB3D-FBD0479F50A0}"/>
                </a:ext>
              </a:extLst>
            </p:cNvPr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05A7425-6E76-273B-7EC5-C50B647583E9}"/>
                </a:ext>
              </a:extLst>
            </p:cNvPr>
            <p:cNvSpPr txBox="1"/>
            <p:nvPr/>
          </p:nvSpPr>
          <p:spPr>
            <a:xfrm>
              <a:off x="0" y="-38100"/>
              <a:ext cx="2448435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14" name="TextBox 10">
            <a:extLst>
              <a:ext uri="{FF2B5EF4-FFF2-40B4-BE49-F238E27FC236}">
                <a16:creationId xmlns:a16="http://schemas.microsoft.com/office/drawing/2014/main" id="{DF273A11-91BB-1437-72DB-033112DCB571}"/>
              </a:ext>
            </a:extLst>
          </p:cNvPr>
          <p:cNvSpPr txBox="1"/>
          <p:nvPr/>
        </p:nvSpPr>
        <p:spPr>
          <a:xfrm rot="-18144">
            <a:off x="1493048" y="559824"/>
            <a:ext cx="10012374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195"/>
              </a:lnSpc>
            </a:pPr>
            <a:r>
              <a:rPr lang="en-US" altLang="ko-KR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[A]</a:t>
            </a:r>
            <a:r>
              <a:rPr lang="ko-KR" altLang="en-US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 현재 의료비 구조의 특징</a:t>
            </a:r>
            <a:endParaRPr lang="en-US" sz="5600" spc="-309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6" name="AutoShape 18">
            <a:extLst>
              <a:ext uri="{FF2B5EF4-FFF2-40B4-BE49-F238E27FC236}">
                <a16:creationId xmlns:a16="http://schemas.microsoft.com/office/drawing/2014/main" id="{51FFFC50-6A20-DA9C-7006-84D553508FD2}"/>
              </a:ext>
            </a:extLst>
          </p:cNvPr>
          <p:cNvSpPr/>
          <p:nvPr/>
        </p:nvSpPr>
        <p:spPr>
          <a:xfrm>
            <a:off x="726970" y="2171700"/>
            <a:ext cx="16708947" cy="0"/>
          </a:xfrm>
          <a:prstGeom prst="line">
            <a:avLst/>
          </a:prstGeom>
          <a:ln w="9525" cap="flat">
            <a:solidFill>
              <a:srgbClr val="5E61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819D808B-69D7-1D6A-7576-0A4CD58DDBFA}"/>
              </a:ext>
            </a:extLst>
          </p:cNvPr>
          <p:cNvSpPr txBox="1"/>
          <p:nvPr/>
        </p:nvSpPr>
        <p:spPr>
          <a:xfrm>
            <a:off x="726970" y="708723"/>
            <a:ext cx="1042830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</a:t>
            </a:r>
            <a:r>
              <a:rPr lang="en-US" altLang="ko-KR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3</a:t>
            </a:r>
            <a:endParaRPr lang="en-US" sz="4000" spc="-57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CD8F158C-33ED-7EA7-72D6-CCBB85121919}"/>
              </a:ext>
            </a:extLst>
          </p:cNvPr>
          <p:cNvSpPr txBox="1"/>
          <p:nvPr/>
        </p:nvSpPr>
        <p:spPr>
          <a:xfrm>
            <a:off x="1567142" y="1559508"/>
            <a:ext cx="11158258" cy="602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[A-2] 1</a:t>
            </a:r>
            <a:r>
              <a:rPr lang="ko-Kore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인당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 입내원일수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: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 가장 긴 시간 동안 치료가 필요한 질병</a:t>
            </a:r>
            <a:endParaRPr lang="en-US" altLang="ko-KR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  <a:p>
            <a:pPr>
              <a:lnSpc>
                <a:spcPts val="2310"/>
              </a:lnSpc>
            </a:pPr>
            <a:endParaRPr lang="en-US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743E3143-43BE-1580-3BB5-11190026A2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566A285-0554-92F0-FF4E-14A0EC428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019" y="2720121"/>
            <a:ext cx="10515600" cy="6489627"/>
          </a:xfrm>
          <a:prstGeom prst="rect">
            <a:avLst/>
          </a:prstGeom>
        </p:spPr>
      </p:pic>
      <p:sp>
        <p:nvSpPr>
          <p:cNvPr id="9" name="도넛[D] 8">
            <a:extLst>
              <a:ext uri="{FF2B5EF4-FFF2-40B4-BE49-F238E27FC236}">
                <a16:creationId xmlns:a16="http://schemas.microsoft.com/office/drawing/2014/main" id="{7153BAA8-7131-3940-4DC1-F9DDB2ECB5C3}"/>
              </a:ext>
            </a:extLst>
          </p:cNvPr>
          <p:cNvSpPr/>
          <p:nvPr/>
        </p:nvSpPr>
        <p:spPr>
          <a:xfrm>
            <a:off x="9982200" y="3009900"/>
            <a:ext cx="1219200" cy="838200"/>
          </a:xfrm>
          <a:prstGeom prst="donut">
            <a:avLst>
              <a:gd name="adj" fmla="val 9544"/>
            </a:avLst>
          </a:prstGeom>
          <a:solidFill>
            <a:srgbClr val="407F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37975E11-9551-4EB8-6878-CA31CCE58894}"/>
              </a:ext>
            </a:extLst>
          </p:cNvPr>
          <p:cNvSpPr txBox="1"/>
          <p:nvPr/>
        </p:nvSpPr>
        <p:spPr>
          <a:xfrm>
            <a:off x="11615812" y="3190559"/>
            <a:ext cx="5529188" cy="1043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📌 질병코드 </a:t>
            </a: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5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번 </a:t>
            </a: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(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정신 및 행동장애</a:t>
            </a: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)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의</a:t>
            </a: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1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인당 입내원일수가 압도적으로 길다</a:t>
            </a: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D2BBA0F-4CA2-9C34-0ADA-942BF0ECDEAB}"/>
              </a:ext>
            </a:extLst>
          </p:cNvPr>
          <p:cNvSpPr txBox="1"/>
          <p:nvPr/>
        </p:nvSpPr>
        <p:spPr>
          <a:xfrm>
            <a:off x="11958712" y="5568535"/>
            <a:ext cx="4843388" cy="489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Why?</a:t>
            </a:r>
          </a:p>
        </p:txBody>
      </p:sp>
      <p:sp>
        <p:nvSpPr>
          <p:cNvPr id="12" name="Freeform 39">
            <a:extLst>
              <a:ext uri="{FF2B5EF4-FFF2-40B4-BE49-F238E27FC236}">
                <a16:creationId xmlns:a16="http://schemas.microsoft.com/office/drawing/2014/main" id="{19633FF3-A9F5-3306-E2A1-CCCD068CEBEB}"/>
              </a:ext>
            </a:extLst>
          </p:cNvPr>
          <p:cNvSpPr/>
          <p:nvPr/>
        </p:nvSpPr>
        <p:spPr>
          <a:xfrm rot="5400000">
            <a:off x="13989488" y="4603550"/>
            <a:ext cx="781837" cy="712449"/>
          </a:xfrm>
          <a:custGeom>
            <a:avLst/>
            <a:gdLst/>
            <a:ahLst/>
            <a:cxnLst/>
            <a:rect l="l" t="t" r="r" b="b"/>
            <a:pathLst>
              <a:path w="781837" h="712449">
                <a:moveTo>
                  <a:pt x="0" y="0"/>
                </a:moveTo>
                <a:lnTo>
                  <a:pt x="781838" y="0"/>
                </a:lnTo>
                <a:lnTo>
                  <a:pt x="781838" y="712449"/>
                </a:lnTo>
                <a:lnTo>
                  <a:pt x="0" y="712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535803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F019A-AC3B-469F-D269-0BE281F62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93AE24D-2009-95DA-C190-EB67642D7311}"/>
              </a:ext>
            </a:extLst>
          </p:cNvPr>
          <p:cNvGrpSpPr/>
          <p:nvPr/>
        </p:nvGrpSpPr>
        <p:grpSpPr>
          <a:xfrm>
            <a:off x="0" y="10144057"/>
            <a:ext cx="18288000" cy="157327"/>
            <a:chOff x="0" y="0"/>
            <a:chExt cx="4816593" cy="4143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B17C3C9-AAE0-3C5E-3F4E-607645B5E2C8}"/>
                </a:ext>
              </a:extLst>
            </p:cNvPr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C9D0953-F2FA-185B-C24A-2220B08FC860}"/>
                </a:ext>
              </a:extLst>
            </p:cNvPr>
            <p:cNvSpPr txBox="1"/>
            <p:nvPr/>
          </p:nvSpPr>
          <p:spPr>
            <a:xfrm>
              <a:off x="0" y="-38100"/>
              <a:ext cx="4816593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E77EB14-072D-6FBE-7F8B-E1A5C8F6CF8D}"/>
              </a:ext>
            </a:extLst>
          </p:cNvPr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08B1808-323A-E6BF-7A6C-DBD69477D848}"/>
                </a:ext>
              </a:extLst>
            </p:cNvPr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E4D6927-0405-80FC-42E9-D9075C24C83D}"/>
                </a:ext>
              </a:extLst>
            </p:cNvPr>
            <p:cNvSpPr txBox="1"/>
            <p:nvPr/>
          </p:nvSpPr>
          <p:spPr>
            <a:xfrm>
              <a:off x="0" y="-38100"/>
              <a:ext cx="2448435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14" name="TextBox 10">
            <a:extLst>
              <a:ext uri="{FF2B5EF4-FFF2-40B4-BE49-F238E27FC236}">
                <a16:creationId xmlns:a16="http://schemas.microsoft.com/office/drawing/2014/main" id="{ACF4568B-6DD5-0158-FCDD-3581CEF44673}"/>
              </a:ext>
            </a:extLst>
          </p:cNvPr>
          <p:cNvSpPr txBox="1"/>
          <p:nvPr/>
        </p:nvSpPr>
        <p:spPr>
          <a:xfrm rot="-18144">
            <a:off x="1493048" y="559824"/>
            <a:ext cx="10012374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195"/>
              </a:lnSpc>
            </a:pPr>
            <a:r>
              <a:rPr lang="en-US" altLang="ko-KR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[A]</a:t>
            </a:r>
            <a:r>
              <a:rPr lang="ko-KR" altLang="en-US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 현재 의료비 구조의 특징</a:t>
            </a:r>
            <a:endParaRPr lang="en-US" sz="5600" spc="-309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6" name="AutoShape 18">
            <a:extLst>
              <a:ext uri="{FF2B5EF4-FFF2-40B4-BE49-F238E27FC236}">
                <a16:creationId xmlns:a16="http://schemas.microsoft.com/office/drawing/2014/main" id="{194C4EBA-EE1C-9371-AB18-D7152CF19573}"/>
              </a:ext>
            </a:extLst>
          </p:cNvPr>
          <p:cNvSpPr/>
          <p:nvPr/>
        </p:nvSpPr>
        <p:spPr>
          <a:xfrm>
            <a:off x="726970" y="2171700"/>
            <a:ext cx="16708947" cy="0"/>
          </a:xfrm>
          <a:prstGeom prst="line">
            <a:avLst/>
          </a:prstGeom>
          <a:ln w="9525" cap="flat">
            <a:solidFill>
              <a:srgbClr val="5E61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E43F649F-6461-CFF7-DD6E-3D6CFA51E10A}"/>
              </a:ext>
            </a:extLst>
          </p:cNvPr>
          <p:cNvSpPr txBox="1"/>
          <p:nvPr/>
        </p:nvSpPr>
        <p:spPr>
          <a:xfrm>
            <a:off x="726970" y="708723"/>
            <a:ext cx="1042830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</a:t>
            </a:r>
            <a:r>
              <a:rPr lang="en-US" altLang="ko-KR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3</a:t>
            </a:r>
            <a:endParaRPr lang="en-US" sz="4000" spc="-57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06DF48D7-A9E8-E99C-8E9E-449F6B2E8A9C}"/>
              </a:ext>
            </a:extLst>
          </p:cNvPr>
          <p:cNvSpPr txBox="1"/>
          <p:nvPr/>
        </p:nvSpPr>
        <p:spPr>
          <a:xfrm>
            <a:off x="1567142" y="1559508"/>
            <a:ext cx="11158258" cy="602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[A-2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.1</a:t>
            </a: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] 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질병코드 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5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번 연령대별 상세 분석</a:t>
            </a:r>
            <a:endParaRPr lang="en-US" altLang="ko-KR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  <a:p>
            <a:pPr>
              <a:lnSpc>
                <a:spcPts val="2310"/>
              </a:lnSpc>
            </a:pPr>
            <a:endParaRPr lang="en-US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133CF01B-2008-C7C4-2197-D9BF418E47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3B0B91-7EFB-09EE-2488-3E7552F2D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933172"/>
            <a:ext cx="8509154" cy="5923039"/>
          </a:xfrm>
          <a:prstGeom prst="rect">
            <a:avLst/>
          </a:prstGeom>
        </p:spPr>
      </p:pic>
      <p:sp>
        <p:nvSpPr>
          <p:cNvPr id="19" name="도넛[D] 18">
            <a:extLst>
              <a:ext uri="{FF2B5EF4-FFF2-40B4-BE49-F238E27FC236}">
                <a16:creationId xmlns:a16="http://schemas.microsoft.com/office/drawing/2014/main" id="{660F25BB-4583-0C23-251B-2438B9AF5D5C}"/>
              </a:ext>
            </a:extLst>
          </p:cNvPr>
          <p:cNvSpPr/>
          <p:nvPr/>
        </p:nvSpPr>
        <p:spPr>
          <a:xfrm>
            <a:off x="16111883" y="3348456"/>
            <a:ext cx="1219200" cy="838200"/>
          </a:xfrm>
          <a:prstGeom prst="donut">
            <a:avLst>
              <a:gd name="adj" fmla="val 9544"/>
            </a:avLst>
          </a:prstGeom>
          <a:solidFill>
            <a:srgbClr val="407F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pic>
        <p:nvPicPr>
          <p:cNvPr id="22" name="그림 2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606578-4BC5-1158-583A-A914A8D177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46" y="2933172"/>
            <a:ext cx="8509154" cy="5923039"/>
          </a:xfrm>
          <a:prstGeom prst="rect">
            <a:avLst/>
          </a:prstGeom>
        </p:spPr>
      </p:pic>
      <p:sp>
        <p:nvSpPr>
          <p:cNvPr id="23" name="도넛[D] 22">
            <a:extLst>
              <a:ext uri="{FF2B5EF4-FFF2-40B4-BE49-F238E27FC236}">
                <a16:creationId xmlns:a16="http://schemas.microsoft.com/office/drawing/2014/main" id="{19A0CFE2-3C04-DCB1-F589-8AD2077F916D}"/>
              </a:ext>
            </a:extLst>
          </p:cNvPr>
          <p:cNvSpPr/>
          <p:nvPr/>
        </p:nvSpPr>
        <p:spPr>
          <a:xfrm>
            <a:off x="7579454" y="3348456"/>
            <a:ext cx="1219200" cy="838200"/>
          </a:xfrm>
          <a:prstGeom prst="donut">
            <a:avLst>
              <a:gd name="adj" fmla="val 9544"/>
            </a:avLst>
          </a:prstGeom>
          <a:solidFill>
            <a:srgbClr val="407F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189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E586B-1771-3D23-12AA-4D81498AE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23F8339-BA30-2433-6C97-50A2EDA16517}"/>
              </a:ext>
            </a:extLst>
          </p:cNvPr>
          <p:cNvGrpSpPr/>
          <p:nvPr/>
        </p:nvGrpSpPr>
        <p:grpSpPr>
          <a:xfrm>
            <a:off x="0" y="10144057"/>
            <a:ext cx="18288000" cy="157327"/>
            <a:chOff x="0" y="0"/>
            <a:chExt cx="4816593" cy="4143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6DBF485-A4D3-FDEC-7D7A-88DD3D47AB59}"/>
                </a:ext>
              </a:extLst>
            </p:cNvPr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42A0F8B-C360-DDCE-8F67-A69CC7C4601E}"/>
                </a:ext>
              </a:extLst>
            </p:cNvPr>
            <p:cNvSpPr txBox="1"/>
            <p:nvPr/>
          </p:nvSpPr>
          <p:spPr>
            <a:xfrm>
              <a:off x="0" y="-38100"/>
              <a:ext cx="4816593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43F8043-6FA3-914D-6DAA-DD215717C8FE}"/>
              </a:ext>
            </a:extLst>
          </p:cNvPr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D5A2BAF-EC90-F8FC-E580-F67ECE682871}"/>
                </a:ext>
              </a:extLst>
            </p:cNvPr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9DB7D44-98D9-64DC-2B89-99CF56955383}"/>
                </a:ext>
              </a:extLst>
            </p:cNvPr>
            <p:cNvSpPr txBox="1"/>
            <p:nvPr/>
          </p:nvSpPr>
          <p:spPr>
            <a:xfrm>
              <a:off x="0" y="-38100"/>
              <a:ext cx="2448435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14" name="TextBox 10">
            <a:extLst>
              <a:ext uri="{FF2B5EF4-FFF2-40B4-BE49-F238E27FC236}">
                <a16:creationId xmlns:a16="http://schemas.microsoft.com/office/drawing/2014/main" id="{9AF04E2B-08E4-4E61-0226-E6044B98522D}"/>
              </a:ext>
            </a:extLst>
          </p:cNvPr>
          <p:cNvSpPr txBox="1"/>
          <p:nvPr/>
        </p:nvSpPr>
        <p:spPr>
          <a:xfrm rot="-18144">
            <a:off x="1493048" y="559824"/>
            <a:ext cx="10012374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195"/>
              </a:lnSpc>
            </a:pPr>
            <a:r>
              <a:rPr lang="en-US" altLang="ko-KR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[A]</a:t>
            </a:r>
            <a:r>
              <a:rPr lang="ko-KR" altLang="en-US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 현재 의료비 구조의 특징</a:t>
            </a:r>
            <a:endParaRPr lang="en-US" sz="5600" spc="-309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6" name="AutoShape 18">
            <a:extLst>
              <a:ext uri="{FF2B5EF4-FFF2-40B4-BE49-F238E27FC236}">
                <a16:creationId xmlns:a16="http://schemas.microsoft.com/office/drawing/2014/main" id="{6C42A3F6-8A15-B743-A124-BB2D10822D13}"/>
              </a:ext>
            </a:extLst>
          </p:cNvPr>
          <p:cNvSpPr/>
          <p:nvPr/>
        </p:nvSpPr>
        <p:spPr>
          <a:xfrm>
            <a:off x="726970" y="2171700"/>
            <a:ext cx="16708947" cy="0"/>
          </a:xfrm>
          <a:prstGeom prst="line">
            <a:avLst/>
          </a:prstGeom>
          <a:ln w="9525" cap="flat">
            <a:solidFill>
              <a:srgbClr val="5E61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C92D9467-C540-47EA-D3B6-6D26B3C5B145}"/>
              </a:ext>
            </a:extLst>
          </p:cNvPr>
          <p:cNvSpPr txBox="1"/>
          <p:nvPr/>
        </p:nvSpPr>
        <p:spPr>
          <a:xfrm>
            <a:off x="726970" y="708723"/>
            <a:ext cx="1042830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</a:t>
            </a:r>
            <a:r>
              <a:rPr lang="en-US" altLang="ko-KR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3</a:t>
            </a:r>
            <a:endParaRPr lang="en-US" sz="4000" spc="-57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CA81B723-D595-E42D-5212-0EB30EDE6673}"/>
              </a:ext>
            </a:extLst>
          </p:cNvPr>
          <p:cNvSpPr txBox="1"/>
          <p:nvPr/>
        </p:nvSpPr>
        <p:spPr>
          <a:xfrm>
            <a:off x="1567142" y="1559508"/>
            <a:ext cx="11158258" cy="602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[A-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3</a:t>
            </a: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] </a:t>
            </a:r>
            <a:r>
              <a:rPr lang="ko-KR" altLang="en-US" sz="2800" dirty="0" err="1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진료실인원수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: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 가장 흔한 질병</a:t>
            </a:r>
            <a:endParaRPr lang="en-US" altLang="ko-KR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  <a:p>
            <a:pPr>
              <a:lnSpc>
                <a:spcPts val="2310"/>
              </a:lnSpc>
            </a:pPr>
            <a:endParaRPr lang="en-US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ED80E498-6CE1-ADC1-65FE-65D1033262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pic>
        <p:nvPicPr>
          <p:cNvPr id="9" name="그림 8" descr="텍스트, 원, 스크린샷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E4A053-DF98-C555-6821-FDD5E2665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3" r="13846"/>
          <a:stretch>
            <a:fillRect/>
          </a:stretch>
        </p:blipFill>
        <p:spPr>
          <a:xfrm>
            <a:off x="1567142" y="2324100"/>
            <a:ext cx="7729258" cy="714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546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102B7-CD6C-BC88-8E86-C160D2D87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D0474A8-5B30-4CF2-0997-2C319A9BFC3B}"/>
              </a:ext>
            </a:extLst>
          </p:cNvPr>
          <p:cNvGrpSpPr/>
          <p:nvPr/>
        </p:nvGrpSpPr>
        <p:grpSpPr>
          <a:xfrm>
            <a:off x="0" y="10144057"/>
            <a:ext cx="18288000" cy="157327"/>
            <a:chOff x="0" y="0"/>
            <a:chExt cx="4816593" cy="4143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FC874E0-6D80-FFD6-8D97-F49963C72A4F}"/>
                </a:ext>
              </a:extLst>
            </p:cNvPr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53190E1-B681-5680-7E0A-B57464552EBC}"/>
                </a:ext>
              </a:extLst>
            </p:cNvPr>
            <p:cNvSpPr txBox="1"/>
            <p:nvPr/>
          </p:nvSpPr>
          <p:spPr>
            <a:xfrm>
              <a:off x="0" y="-38100"/>
              <a:ext cx="4816593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A7A39DD-2A7B-40D9-4811-9AE3118ACCAA}"/>
              </a:ext>
            </a:extLst>
          </p:cNvPr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8CBEE9A-9524-8F22-979A-4F7AA78CC950}"/>
                </a:ext>
              </a:extLst>
            </p:cNvPr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50F387E-46E9-BA34-4093-1C54F841EB16}"/>
                </a:ext>
              </a:extLst>
            </p:cNvPr>
            <p:cNvSpPr txBox="1"/>
            <p:nvPr/>
          </p:nvSpPr>
          <p:spPr>
            <a:xfrm>
              <a:off x="0" y="-38100"/>
              <a:ext cx="2448435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14" name="TextBox 10">
            <a:extLst>
              <a:ext uri="{FF2B5EF4-FFF2-40B4-BE49-F238E27FC236}">
                <a16:creationId xmlns:a16="http://schemas.microsoft.com/office/drawing/2014/main" id="{EE206D2F-2A76-0F5F-1A97-58C58959AA42}"/>
              </a:ext>
            </a:extLst>
          </p:cNvPr>
          <p:cNvSpPr txBox="1"/>
          <p:nvPr/>
        </p:nvSpPr>
        <p:spPr>
          <a:xfrm rot="-18144">
            <a:off x="1493048" y="559824"/>
            <a:ext cx="10012374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195"/>
              </a:lnSpc>
            </a:pPr>
            <a:r>
              <a:rPr lang="en-US" altLang="ko-KR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[A]</a:t>
            </a:r>
            <a:r>
              <a:rPr lang="ko-KR" altLang="en-US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 현재 의료비 구조의 특징</a:t>
            </a:r>
            <a:endParaRPr lang="en-US" sz="5600" spc="-309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6" name="AutoShape 18">
            <a:extLst>
              <a:ext uri="{FF2B5EF4-FFF2-40B4-BE49-F238E27FC236}">
                <a16:creationId xmlns:a16="http://schemas.microsoft.com/office/drawing/2014/main" id="{0623968A-5A71-6C53-A270-4DF0BFF0A2F9}"/>
              </a:ext>
            </a:extLst>
          </p:cNvPr>
          <p:cNvSpPr/>
          <p:nvPr/>
        </p:nvSpPr>
        <p:spPr>
          <a:xfrm>
            <a:off x="726970" y="2171700"/>
            <a:ext cx="16708947" cy="0"/>
          </a:xfrm>
          <a:prstGeom prst="line">
            <a:avLst/>
          </a:prstGeom>
          <a:ln w="9525" cap="flat">
            <a:solidFill>
              <a:srgbClr val="5E61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EDE09BD0-6E5D-C0FA-4EFE-F81733171975}"/>
              </a:ext>
            </a:extLst>
          </p:cNvPr>
          <p:cNvSpPr txBox="1"/>
          <p:nvPr/>
        </p:nvSpPr>
        <p:spPr>
          <a:xfrm>
            <a:off x="726970" y="708723"/>
            <a:ext cx="1042830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</a:t>
            </a:r>
            <a:r>
              <a:rPr lang="en-US" altLang="ko-KR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3</a:t>
            </a:r>
            <a:endParaRPr lang="en-US" sz="4000" spc="-57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3A5AEE82-83AE-AF61-A8FD-20EA7F189F56}"/>
              </a:ext>
            </a:extLst>
          </p:cNvPr>
          <p:cNvSpPr txBox="1"/>
          <p:nvPr/>
        </p:nvSpPr>
        <p:spPr>
          <a:xfrm>
            <a:off x="1567142" y="1559508"/>
            <a:ext cx="11158258" cy="602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[A-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3</a:t>
            </a: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] </a:t>
            </a:r>
            <a:r>
              <a:rPr lang="ko-KR" altLang="en-US" sz="2800" dirty="0" err="1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진료실인원수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: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 가장 흔한 질병</a:t>
            </a:r>
            <a:endParaRPr lang="en-US" altLang="ko-KR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  <a:p>
            <a:pPr>
              <a:lnSpc>
                <a:spcPts val="2310"/>
              </a:lnSpc>
            </a:pPr>
            <a:endParaRPr lang="en-US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9B618B7B-4AA9-7BC1-E84A-D2C7B1D294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pic>
        <p:nvPicPr>
          <p:cNvPr id="9" name="그림 8" descr="텍스트, 원, 스크린샷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53F86B-47FC-535D-CE35-D16D662F5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3" r="13846"/>
          <a:stretch>
            <a:fillRect/>
          </a:stretch>
        </p:blipFill>
        <p:spPr>
          <a:xfrm>
            <a:off x="1567142" y="2324100"/>
            <a:ext cx="7729258" cy="7146417"/>
          </a:xfrm>
          <a:prstGeom prst="rect">
            <a:avLst/>
          </a:prstGeom>
        </p:spPr>
      </p:pic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518B6B-54B3-2773-4E15-13570DA9D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1443" y="2324827"/>
            <a:ext cx="8683150" cy="6601845"/>
          </a:xfrm>
          <a:prstGeom prst="rect">
            <a:avLst/>
          </a:prstGeom>
        </p:spPr>
      </p:pic>
      <p:sp>
        <p:nvSpPr>
          <p:cNvPr id="11" name="AutoShape 2">
            <a:extLst>
              <a:ext uri="{FF2B5EF4-FFF2-40B4-BE49-F238E27FC236}">
                <a16:creationId xmlns:a16="http://schemas.microsoft.com/office/drawing/2014/main" id="{6101E757-3A3C-2EFC-E885-3F18222A7F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814F08-4E80-6A0C-7164-25E61B9BB9F0}"/>
              </a:ext>
            </a:extLst>
          </p:cNvPr>
          <p:cNvSpPr txBox="1"/>
          <p:nvPr/>
        </p:nvSpPr>
        <p:spPr>
          <a:xfrm>
            <a:off x="1807404" y="8953500"/>
            <a:ext cx="14673188" cy="1047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  <a:cs typeface="NanumGothic"/>
                <a:sym typeface="Nanum Gothic"/>
              </a:rPr>
              <a:t>📌 </a:t>
            </a:r>
            <a:r>
              <a:rPr lang="ko-Kore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  <a:cs typeface="NanumGothic"/>
                <a:sym typeface="Nanum Gothic"/>
              </a:rPr>
              <a:t>진료실인원수가 많은 질병군</a:t>
            </a:r>
            <a:r>
              <a:rPr lang="ko-Kore-KR" altLang="en-US" sz="2400" spc="-25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  <a:cs typeface="NanumGothic"/>
                <a:sym typeface="Nanum Gothic"/>
              </a:rPr>
              <a:t>과 </a:t>
            </a:r>
            <a:r>
              <a:rPr lang="en-US" altLang="ko-Kore-KR" sz="2400" b="1" spc="-25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  <a:cs typeface="NanumGothic"/>
                <a:sym typeface="Nanum Gothic"/>
              </a:rPr>
              <a:t>1</a:t>
            </a:r>
            <a:r>
              <a:rPr lang="ko-Kore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  <a:cs typeface="NanumGothic"/>
                <a:sym typeface="Nanum Gothic"/>
              </a:rPr>
              <a:t>인당 평균 진료비가 낮은 질병군</a:t>
            </a:r>
            <a:r>
              <a:rPr lang="ko-Kore-KR" altLang="en-US" sz="2400" spc="-25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  <a:cs typeface="NanumGothic"/>
                <a:sym typeface="Nanum Gothic"/>
              </a:rPr>
              <a:t>이 </a:t>
            </a:r>
            <a:r>
              <a:rPr lang="ko-Kore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  <a:cs typeface="NanumGothic"/>
                <a:sym typeface="Nanum Gothic"/>
              </a:rPr>
              <a:t>유사</a:t>
            </a:r>
            <a:endParaRPr lang="en-US" altLang="ko-Kore-KR" sz="2400" b="1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r>
              <a:rPr lang="ko-Kore-KR" altLang="en-US" sz="24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→ 대한민국의 높은 </a:t>
            </a:r>
            <a:r>
              <a:rPr lang="ko-Kore-KR" altLang="en-US" sz="2400" b="1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의료 접근성</a:t>
            </a:r>
          </a:p>
        </p:txBody>
      </p:sp>
    </p:spTree>
    <p:extLst>
      <p:ext uri="{BB962C8B-B14F-4D97-AF65-F5344CB8AC3E}">
        <p14:creationId xmlns:p14="http://schemas.microsoft.com/office/powerpoint/2010/main" val="2956593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4076E-AC12-A3A7-3F36-92B964BF1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EDC7E29-5A55-924C-294B-6025E0A78FAC}"/>
              </a:ext>
            </a:extLst>
          </p:cNvPr>
          <p:cNvGrpSpPr/>
          <p:nvPr/>
        </p:nvGrpSpPr>
        <p:grpSpPr>
          <a:xfrm>
            <a:off x="0" y="10144057"/>
            <a:ext cx="18288000" cy="157327"/>
            <a:chOff x="0" y="0"/>
            <a:chExt cx="4816593" cy="4143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6D81FEA-9C8D-ADAC-040A-E04CFA745A34}"/>
                </a:ext>
              </a:extLst>
            </p:cNvPr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683E5F1-81D6-BBC8-5220-635A52D2E4FE}"/>
                </a:ext>
              </a:extLst>
            </p:cNvPr>
            <p:cNvSpPr txBox="1"/>
            <p:nvPr/>
          </p:nvSpPr>
          <p:spPr>
            <a:xfrm>
              <a:off x="0" y="-38100"/>
              <a:ext cx="4816593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0F66C1A-531F-73F1-BFBE-28BB6CD334A8}"/>
              </a:ext>
            </a:extLst>
          </p:cNvPr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1A0DDF4-DC7A-B23D-F052-D1512FA6FE58}"/>
                </a:ext>
              </a:extLst>
            </p:cNvPr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1AF7A18-FDB4-0178-2973-899E30B0F401}"/>
                </a:ext>
              </a:extLst>
            </p:cNvPr>
            <p:cNvSpPr txBox="1"/>
            <p:nvPr/>
          </p:nvSpPr>
          <p:spPr>
            <a:xfrm>
              <a:off x="0" y="-38100"/>
              <a:ext cx="2448435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14" name="TextBox 10">
            <a:extLst>
              <a:ext uri="{FF2B5EF4-FFF2-40B4-BE49-F238E27FC236}">
                <a16:creationId xmlns:a16="http://schemas.microsoft.com/office/drawing/2014/main" id="{AE4A6D3D-0761-0461-7404-E4A367053069}"/>
              </a:ext>
            </a:extLst>
          </p:cNvPr>
          <p:cNvSpPr txBox="1"/>
          <p:nvPr/>
        </p:nvSpPr>
        <p:spPr>
          <a:xfrm rot="-18144">
            <a:off x="1493048" y="559824"/>
            <a:ext cx="10012374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195"/>
              </a:lnSpc>
            </a:pPr>
            <a:r>
              <a:rPr lang="en-US" altLang="ko-KR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[B]</a:t>
            </a:r>
            <a:r>
              <a:rPr lang="ko-KR" altLang="en-US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 최근 급증하고 있는 변화 포착</a:t>
            </a:r>
            <a:endParaRPr lang="en-US" sz="5600" spc="-309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6" name="AutoShape 18">
            <a:extLst>
              <a:ext uri="{FF2B5EF4-FFF2-40B4-BE49-F238E27FC236}">
                <a16:creationId xmlns:a16="http://schemas.microsoft.com/office/drawing/2014/main" id="{78B18C38-F4CA-AAA4-577A-992ABC77209B}"/>
              </a:ext>
            </a:extLst>
          </p:cNvPr>
          <p:cNvSpPr/>
          <p:nvPr/>
        </p:nvSpPr>
        <p:spPr>
          <a:xfrm>
            <a:off x="726970" y="2171700"/>
            <a:ext cx="16708947" cy="0"/>
          </a:xfrm>
          <a:prstGeom prst="line">
            <a:avLst/>
          </a:prstGeom>
          <a:ln w="9525" cap="flat">
            <a:solidFill>
              <a:srgbClr val="5E61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0C4587BA-86E0-7875-9023-FA7595FC4D0E}"/>
              </a:ext>
            </a:extLst>
          </p:cNvPr>
          <p:cNvSpPr txBox="1"/>
          <p:nvPr/>
        </p:nvSpPr>
        <p:spPr>
          <a:xfrm>
            <a:off x="726970" y="708723"/>
            <a:ext cx="1042830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</a:t>
            </a:r>
            <a:r>
              <a:rPr lang="en-US" altLang="ko-KR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3</a:t>
            </a:r>
            <a:endParaRPr lang="en-US" sz="4000" spc="-57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2F809DA1-D2B8-FE1F-76A9-6DB0180C795D}"/>
              </a:ext>
            </a:extLst>
          </p:cNvPr>
          <p:cNvSpPr txBox="1"/>
          <p:nvPr/>
        </p:nvSpPr>
        <p:spPr>
          <a:xfrm>
            <a:off x="1567142" y="1559508"/>
            <a:ext cx="11158258" cy="602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[B-1] 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최근 새롭게 증가한 질병</a:t>
            </a:r>
            <a:endParaRPr lang="en-US" altLang="ko-KR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  <a:p>
            <a:pPr>
              <a:lnSpc>
                <a:spcPts val="2310"/>
              </a:lnSpc>
            </a:pPr>
            <a:endParaRPr lang="en-US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1CE65208-C90B-23C5-EF95-B5DA8DD59A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CB80711F-11F8-9ED6-33B3-AE06C2A368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pic>
        <p:nvPicPr>
          <p:cNvPr id="12" name="그림 1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FB6040-5A74-F877-F4B9-FBBEDAE7B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943" y="2569319"/>
            <a:ext cx="9372600" cy="6715906"/>
          </a:xfrm>
          <a:prstGeom prst="rect">
            <a:avLst/>
          </a:prstGeom>
        </p:spPr>
      </p:pic>
      <p:sp>
        <p:nvSpPr>
          <p:cNvPr id="13" name="도넛[D] 12">
            <a:extLst>
              <a:ext uri="{FF2B5EF4-FFF2-40B4-BE49-F238E27FC236}">
                <a16:creationId xmlns:a16="http://schemas.microsoft.com/office/drawing/2014/main" id="{A78A61CF-2349-7DAF-2FED-90199C5DDC08}"/>
              </a:ext>
            </a:extLst>
          </p:cNvPr>
          <p:cNvSpPr/>
          <p:nvPr/>
        </p:nvSpPr>
        <p:spPr>
          <a:xfrm>
            <a:off x="9220200" y="3086100"/>
            <a:ext cx="1219200" cy="838200"/>
          </a:xfrm>
          <a:prstGeom prst="donut">
            <a:avLst>
              <a:gd name="adj" fmla="val 954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B9DDD7C1-129A-1DB3-108E-2DC5FC61782F}"/>
              </a:ext>
            </a:extLst>
          </p:cNvPr>
          <p:cNvSpPr txBox="1"/>
          <p:nvPr/>
        </p:nvSpPr>
        <p:spPr>
          <a:xfrm>
            <a:off x="10515600" y="3257324"/>
            <a:ext cx="7391396" cy="1597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📌 질병코드 </a:t>
            </a: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21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번 </a:t>
            </a:r>
            <a:b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</a:b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    </a:t>
            </a: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(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건강상태 및 보건서비스 접촉에 영향을 주는 요인</a:t>
            </a: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)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의</a:t>
            </a: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    증가율이 가장 높다</a:t>
            </a: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</p:spTree>
    <p:extLst>
      <p:ext uri="{BB962C8B-B14F-4D97-AF65-F5344CB8AC3E}">
        <p14:creationId xmlns:p14="http://schemas.microsoft.com/office/powerpoint/2010/main" val="2141059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4995C-B6ED-101C-CDF3-71418DC01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E349061-3F76-0F30-FD4B-59187F707BC6}"/>
              </a:ext>
            </a:extLst>
          </p:cNvPr>
          <p:cNvGrpSpPr/>
          <p:nvPr/>
        </p:nvGrpSpPr>
        <p:grpSpPr>
          <a:xfrm>
            <a:off x="0" y="10144057"/>
            <a:ext cx="18288000" cy="157327"/>
            <a:chOff x="0" y="0"/>
            <a:chExt cx="4816593" cy="4143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E25ACE6-1F58-053D-A25D-18E45441B177}"/>
                </a:ext>
              </a:extLst>
            </p:cNvPr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4D1C06B-72A9-0BEF-F0A4-5780F67EECFB}"/>
                </a:ext>
              </a:extLst>
            </p:cNvPr>
            <p:cNvSpPr txBox="1"/>
            <p:nvPr/>
          </p:nvSpPr>
          <p:spPr>
            <a:xfrm>
              <a:off x="0" y="-38100"/>
              <a:ext cx="4816593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3D206F7-CCBF-35C8-4EC3-563CDDB22D46}"/>
              </a:ext>
            </a:extLst>
          </p:cNvPr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2A92160-A993-0ED4-97C1-73A8765B1118}"/>
                </a:ext>
              </a:extLst>
            </p:cNvPr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94A8EE2-AE9C-CAC5-06C0-27139172E704}"/>
                </a:ext>
              </a:extLst>
            </p:cNvPr>
            <p:cNvSpPr txBox="1"/>
            <p:nvPr/>
          </p:nvSpPr>
          <p:spPr>
            <a:xfrm>
              <a:off x="0" y="-38100"/>
              <a:ext cx="2448435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14" name="TextBox 10">
            <a:extLst>
              <a:ext uri="{FF2B5EF4-FFF2-40B4-BE49-F238E27FC236}">
                <a16:creationId xmlns:a16="http://schemas.microsoft.com/office/drawing/2014/main" id="{F059BEA4-B6E3-E213-8DEB-F77F24DBE720}"/>
              </a:ext>
            </a:extLst>
          </p:cNvPr>
          <p:cNvSpPr txBox="1"/>
          <p:nvPr/>
        </p:nvSpPr>
        <p:spPr>
          <a:xfrm rot="-18144">
            <a:off x="1493048" y="559824"/>
            <a:ext cx="10012374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195"/>
              </a:lnSpc>
            </a:pPr>
            <a:r>
              <a:rPr lang="en-US" altLang="ko-KR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[B]</a:t>
            </a:r>
            <a:r>
              <a:rPr lang="ko-KR" altLang="en-US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 최근 급증하고 있는 변화 포착</a:t>
            </a:r>
            <a:endParaRPr lang="en-US" sz="5600" spc="-309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6" name="AutoShape 18">
            <a:extLst>
              <a:ext uri="{FF2B5EF4-FFF2-40B4-BE49-F238E27FC236}">
                <a16:creationId xmlns:a16="http://schemas.microsoft.com/office/drawing/2014/main" id="{3A25E586-6838-F238-5CBB-86AF7894928C}"/>
              </a:ext>
            </a:extLst>
          </p:cNvPr>
          <p:cNvSpPr/>
          <p:nvPr/>
        </p:nvSpPr>
        <p:spPr>
          <a:xfrm>
            <a:off x="726970" y="2171700"/>
            <a:ext cx="16708947" cy="0"/>
          </a:xfrm>
          <a:prstGeom prst="line">
            <a:avLst/>
          </a:prstGeom>
          <a:ln w="9525" cap="flat">
            <a:solidFill>
              <a:srgbClr val="5E61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C634EC82-AFCE-695D-58DB-8B864695AD33}"/>
              </a:ext>
            </a:extLst>
          </p:cNvPr>
          <p:cNvSpPr txBox="1"/>
          <p:nvPr/>
        </p:nvSpPr>
        <p:spPr>
          <a:xfrm>
            <a:off x="726970" y="708723"/>
            <a:ext cx="1042830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</a:t>
            </a:r>
            <a:r>
              <a:rPr lang="en-US" altLang="ko-KR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3</a:t>
            </a:r>
            <a:endParaRPr lang="en-US" sz="4000" spc="-57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6DBB0EDF-47AF-4303-59DE-35549E9519DD}"/>
              </a:ext>
            </a:extLst>
          </p:cNvPr>
          <p:cNvSpPr txBox="1"/>
          <p:nvPr/>
        </p:nvSpPr>
        <p:spPr>
          <a:xfrm>
            <a:off x="1567142" y="1559508"/>
            <a:ext cx="11158258" cy="602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[B-1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.1</a:t>
            </a: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] 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주요 급증 질병의 연도별 추세 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(LOESS)</a:t>
            </a:r>
            <a:endParaRPr lang="en-US" altLang="ko-KR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  <a:p>
            <a:pPr>
              <a:lnSpc>
                <a:spcPts val="2310"/>
              </a:lnSpc>
            </a:pPr>
            <a:endParaRPr lang="en-US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4A57DD8F-9A59-7A2A-F4FA-6599CA3EEB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4DA4DE65-448A-A3BE-6215-FF788A8EB8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1EE1CC2-7D09-F9E8-8429-1DA6CD18CC35}"/>
              </a:ext>
            </a:extLst>
          </p:cNvPr>
          <p:cNvGrpSpPr/>
          <p:nvPr/>
        </p:nvGrpSpPr>
        <p:grpSpPr>
          <a:xfrm>
            <a:off x="1143000" y="2628900"/>
            <a:ext cx="9859302" cy="6975071"/>
            <a:chOff x="1578028" y="2497826"/>
            <a:chExt cx="9203000" cy="6594380"/>
          </a:xfrm>
        </p:grpSpPr>
        <p:pic>
          <p:nvPicPr>
            <p:cNvPr id="9" name="그림 8" descr="텍스트, 라인, 그래프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280B305-ECE9-02A0-BB2F-576FBB71B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78028" y="2497826"/>
              <a:ext cx="9203000" cy="6594380"/>
            </a:xfrm>
            <a:prstGeom prst="rect">
              <a:avLst/>
            </a:prstGeom>
          </p:spPr>
        </p:pic>
        <p:sp>
          <p:nvSpPr>
            <p:cNvPr id="10" name="도넛[D] 9">
              <a:extLst>
                <a:ext uri="{FF2B5EF4-FFF2-40B4-BE49-F238E27FC236}">
                  <a16:creationId xmlns:a16="http://schemas.microsoft.com/office/drawing/2014/main" id="{D06ED964-2994-9CDF-6B9B-B93609664FD0}"/>
                </a:ext>
              </a:extLst>
            </p:cNvPr>
            <p:cNvSpPr/>
            <p:nvPr/>
          </p:nvSpPr>
          <p:spPr>
            <a:xfrm>
              <a:off x="8229600" y="3009900"/>
              <a:ext cx="838200" cy="838200"/>
            </a:xfrm>
            <a:prstGeom prst="donut">
              <a:avLst>
                <a:gd name="adj" fmla="val 9544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8" name="TextBox 11">
            <a:extLst>
              <a:ext uri="{FF2B5EF4-FFF2-40B4-BE49-F238E27FC236}">
                <a16:creationId xmlns:a16="http://schemas.microsoft.com/office/drawing/2014/main" id="{CC96330B-2BDE-0998-8723-5DF4EC59C70D}"/>
              </a:ext>
            </a:extLst>
          </p:cNvPr>
          <p:cNvSpPr txBox="1"/>
          <p:nvPr/>
        </p:nvSpPr>
        <p:spPr>
          <a:xfrm>
            <a:off x="10834283" y="3256625"/>
            <a:ext cx="6539317" cy="6583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주요 급증 질병 </a:t>
            </a:r>
            <a:r>
              <a:rPr lang="en-US" altLang="ko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5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개의 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연도별 진료실 인원수 추세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를</a:t>
            </a: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LOESS smoothing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을 통해 확인</a:t>
            </a: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r>
              <a:rPr lang="ko-Kore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질병코드 </a:t>
            </a:r>
            <a:r>
              <a:rPr lang="en-US" altLang="ko-Kore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2</a:t>
            </a:r>
            <a:r>
              <a:rPr lang="en-US" altLang="ko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1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번의 진료실 인원수가</a:t>
            </a: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2020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년부터 급증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하다가</a:t>
            </a: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2023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년 이후로 감소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하는 추세</a:t>
            </a: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r>
              <a:rPr lang="ko-Kore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코로나</a:t>
            </a:r>
            <a:r>
              <a:rPr lang="ko-Kore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로 인한 의료 이용과 관련된 현상</a:t>
            </a: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21" name="Freeform 39">
            <a:extLst>
              <a:ext uri="{FF2B5EF4-FFF2-40B4-BE49-F238E27FC236}">
                <a16:creationId xmlns:a16="http://schemas.microsoft.com/office/drawing/2014/main" id="{7E72551E-DC18-5433-8D68-E4E622481EC0}"/>
              </a:ext>
            </a:extLst>
          </p:cNvPr>
          <p:cNvSpPr/>
          <p:nvPr/>
        </p:nvSpPr>
        <p:spPr>
          <a:xfrm rot="5400000">
            <a:off x="13757506" y="4624957"/>
            <a:ext cx="781837" cy="712449"/>
          </a:xfrm>
          <a:custGeom>
            <a:avLst/>
            <a:gdLst/>
            <a:ahLst/>
            <a:cxnLst/>
            <a:rect l="l" t="t" r="r" b="b"/>
            <a:pathLst>
              <a:path w="781837" h="712449">
                <a:moveTo>
                  <a:pt x="0" y="0"/>
                </a:moveTo>
                <a:lnTo>
                  <a:pt x="781838" y="0"/>
                </a:lnTo>
                <a:lnTo>
                  <a:pt x="781838" y="712449"/>
                </a:lnTo>
                <a:lnTo>
                  <a:pt x="0" y="712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22" name="Freeform 39">
            <a:extLst>
              <a:ext uri="{FF2B5EF4-FFF2-40B4-BE49-F238E27FC236}">
                <a16:creationId xmlns:a16="http://schemas.microsoft.com/office/drawing/2014/main" id="{21B98071-B141-4247-5854-DE4B237F5229}"/>
              </a:ext>
            </a:extLst>
          </p:cNvPr>
          <p:cNvSpPr/>
          <p:nvPr/>
        </p:nvSpPr>
        <p:spPr>
          <a:xfrm rot="5400000">
            <a:off x="13757506" y="7444357"/>
            <a:ext cx="781837" cy="712449"/>
          </a:xfrm>
          <a:custGeom>
            <a:avLst/>
            <a:gdLst/>
            <a:ahLst/>
            <a:cxnLst/>
            <a:rect l="l" t="t" r="r" b="b"/>
            <a:pathLst>
              <a:path w="781837" h="712449">
                <a:moveTo>
                  <a:pt x="0" y="0"/>
                </a:moveTo>
                <a:lnTo>
                  <a:pt x="781838" y="0"/>
                </a:lnTo>
                <a:lnTo>
                  <a:pt x="781838" y="712449"/>
                </a:lnTo>
                <a:lnTo>
                  <a:pt x="0" y="712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3005235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DCFC2-BFF5-3EAC-7A1F-112300227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94BFAC6-584A-F035-94C6-F4E16C75C073}"/>
              </a:ext>
            </a:extLst>
          </p:cNvPr>
          <p:cNvGrpSpPr/>
          <p:nvPr/>
        </p:nvGrpSpPr>
        <p:grpSpPr>
          <a:xfrm>
            <a:off x="0" y="10144057"/>
            <a:ext cx="18288000" cy="157327"/>
            <a:chOff x="0" y="0"/>
            <a:chExt cx="4816593" cy="4143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8558618-EF26-6D75-E240-0D2F9CC49109}"/>
                </a:ext>
              </a:extLst>
            </p:cNvPr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B27DD45-7D36-017B-31BC-BB0C0ABD2BCB}"/>
                </a:ext>
              </a:extLst>
            </p:cNvPr>
            <p:cNvSpPr txBox="1"/>
            <p:nvPr/>
          </p:nvSpPr>
          <p:spPr>
            <a:xfrm>
              <a:off x="0" y="-38100"/>
              <a:ext cx="4816593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DF74F37-5394-D63E-AC36-BF601BA7573F}"/>
              </a:ext>
            </a:extLst>
          </p:cNvPr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E590257-8C68-C44B-5F5B-F403DB869688}"/>
                </a:ext>
              </a:extLst>
            </p:cNvPr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CD69AE5-C189-D4B8-B023-09878220720A}"/>
                </a:ext>
              </a:extLst>
            </p:cNvPr>
            <p:cNvSpPr txBox="1"/>
            <p:nvPr/>
          </p:nvSpPr>
          <p:spPr>
            <a:xfrm>
              <a:off x="0" y="-38100"/>
              <a:ext cx="2448435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14" name="TextBox 10">
            <a:extLst>
              <a:ext uri="{FF2B5EF4-FFF2-40B4-BE49-F238E27FC236}">
                <a16:creationId xmlns:a16="http://schemas.microsoft.com/office/drawing/2014/main" id="{52CE7C50-88C6-0255-9D00-1208C6BCFE5A}"/>
              </a:ext>
            </a:extLst>
          </p:cNvPr>
          <p:cNvSpPr txBox="1"/>
          <p:nvPr/>
        </p:nvSpPr>
        <p:spPr>
          <a:xfrm rot="-18144">
            <a:off x="1493048" y="559824"/>
            <a:ext cx="10012374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195"/>
              </a:lnSpc>
            </a:pPr>
            <a:r>
              <a:rPr lang="en-US" altLang="ko-KR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[B]</a:t>
            </a:r>
            <a:r>
              <a:rPr lang="ko-KR" altLang="en-US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 최근 급증하고 있는 변화 포착</a:t>
            </a:r>
            <a:endParaRPr lang="en-US" sz="5600" spc="-309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6" name="AutoShape 18">
            <a:extLst>
              <a:ext uri="{FF2B5EF4-FFF2-40B4-BE49-F238E27FC236}">
                <a16:creationId xmlns:a16="http://schemas.microsoft.com/office/drawing/2014/main" id="{691F38C8-7BCE-F100-48F6-DBF9C44747E7}"/>
              </a:ext>
            </a:extLst>
          </p:cNvPr>
          <p:cNvSpPr/>
          <p:nvPr/>
        </p:nvSpPr>
        <p:spPr>
          <a:xfrm>
            <a:off x="726970" y="2171700"/>
            <a:ext cx="16708947" cy="0"/>
          </a:xfrm>
          <a:prstGeom prst="line">
            <a:avLst/>
          </a:prstGeom>
          <a:ln w="9525" cap="flat">
            <a:solidFill>
              <a:srgbClr val="5E61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130D8E05-C281-9B3C-3C59-A7053F28A643}"/>
              </a:ext>
            </a:extLst>
          </p:cNvPr>
          <p:cNvSpPr txBox="1"/>
          <p:nvPr/>
        </p:nvSpPr>
        <p:spPr>
          <a:xfrm>
            <a:off x="726970" y="708723"/>
            <a:ext cx="1042830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</a:t>
            </a:r>
            <a:r>
              <a:rPr lang="en-US" altLang="ko-KR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3</a:t>
            </a:r>
            <a:endParaRPr lang="en-US" sz="4000" spc="-57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FEA8F911-684C-D4ED-8E76-8769C3F5A5CA}"/>
              </a:ext>
            </a:extLst>
          </p:cNvPr>
          <p:cNvSpPr txBox="1"/>
          <p:nvPr/>
        </p:nvSpPr>
        <p:spPr>
          <a:xfrm>
            <a:off x="1567142" y="1559508"/>
            <a:ext cx="11158258" cy="602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[B-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2</a:t>
            </a: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] 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가장 빠르게 비싸지는 질병</a:t>
            </a:r>
            <a:endParaRPr lang="en-US" altLang="ko-KR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  <a:p>
            <a:pPr>
              <a:lnSpc>
                <a:spcPts val="2310"/>
              </a:lnSpc>
            </a:pPr>
            <a:endParaRPr lang="en-US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B717EC1B-43AE-EA77-6190-E17E6FF8EA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A9EAFA28-C134-FBF9-0262-82FF385EDA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pic>
        <p:nvPicPr>
          <p:cNvPr id="10" name="그림 9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D4E6E3-3774-1EF4-61B1-C2A3CDEC2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828" y="2472396"/>
            <a:ext cx="9465329" cy="6782351"/>
          </a:xfrm>
          <a:prstGeom prst="rect">
            <a:avLst/>
          </a:prstGeom>
          <a:solidFill>
            <a:srgbClr val="407F50"/>
          </a:solidFill>
        </p:spPr>
      </p:pic>
      <p:sp>
        <p:nvSpPr>
          <p:cNvPr id="12" name="도넛[D] 11">
            <a:extLst>
              <a:ext uri="{FF2B5EF4-FFF2-40B4-BE49-F238E27FC236}">
                <a16:creationId xmlns:a16="http://schemas.microsoft.com/office/drawing/2014/main" id="{FA9FBF7F-3656-F8A8-31BA-581694200D94}"/>
              </a:ext>
            </a:extLst>
          </p:cNvPr>
          <p:cNvSpPr/>
          <p:nvPr/>
        </p:nvSpPr>
        <p:spPr>
          <a:xfrm>
            <a:off x="9780911" y="3494911"/>
            <a:ext cx="897975" cy="886589"/>
          </a:xfrm>
          <a:prstGeom prst="donut">
            <a:avLst>
              <a:gd name="adj" fmla="val 9544"/>
            </a:avLst>
          </a:prstGeom>
          <a:solidFill>
            <a:srgbClr val="407F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13" name="도넛[D] 12">
            <a:extLst>
              <a:ext uri="{FF2B5EF4-FFF2-40B4-BE49-F238E27FC236}">
                <a16:creationId xmlns:a16="http://schemas.microsoft.com/office/drawing/2014/main" id="{1AC7B6C8-6D53-2CE1-D484-FD4BD543DB2A}"/>
              </a:ext>
            </a:extLst>
          </p:cNvPr>
          <p:cNvSpPr/>
          <p:nvPr/>
        </p:nvSpPr>
        <p:spPr>
          <a:xfrm>
            <a:off x="5791200" y="4852605"/>
            <a:ext cx="897975" cy="886589"/>
          </a:xfrm>
          <a:prstGeom prst="donut">
            <a:avLst>
              <a:gd name="adj" fmla="val 9544"/>
            </a:avLst>
          </a:prstGeom>
          <a:solidFill>
            <a:srgbClr val="407F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35C4CFF5-8570-F8FD-652F-197EA6F97FE4}"/>
              </a:ext>
            </a:extLst>
          </p:cNvPr>
          <p:cNvSpPr txBox="1"/>
          <p:nvPr/>
        </p:nvSpPr>
        <p:spPr>
          <a:xfrm>
            <a:off x="10229898" y="3727481"/>
            <a:ext cx="7391396" cy="41826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📌 질병코드 </a:t>
            </a: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15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번 </a:t>
            </a: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(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임신</a:t>
            </a: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, 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출산 및 </a:t>
            </a:r>
            <a:r>
              <a:rPr lang="ko-KR" altLang="en-US" sz="2400" b="1" spc="-25" dirty="0" err="1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산후기</a:t>
            </a: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)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와</a:t>
            </a: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질병코드 </a:t>
            </a: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16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번 </a:t>
            </a: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(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주산기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*</a:t>
            </a:r>
            <a:r>
              <a:rPr lang="ko-KR" altLang="en-US" sz="2400" b="1" spc="-25" dirty="0" err="1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에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 기원한 특정병태</a:t>
            </a: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)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는</a:t>
            </a: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1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인당 진료비의 증가율 및 </a:t>
            </a:r>
            <a:r>
              <a:rPr lang="ko-KR" altLang="en-US" sz="2400" b="1" spc="-25" dirty="0" err="1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증가량이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 모두 높다</a:t>
            </a:r>
            <a:endParaRPr lang="en-US" altLang="ko-KR" sz="2400" b="1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*주산기</a:t>
            </a:r>
            <a:r>
              <a:rPr lang="en-US" altLang="ko-KR" sz="16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: </a:t>
            </a:r>
            <a:r>
              <a:rPr lang="ko-KR" altLang="en-US" sz="16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출산 전후의 기간</a:t>
            </a:r>
            <a:endParaRPr lang="en-US" altLang="ko-KR" sz="16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최근 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평균 혼인 연령 증가</a:t>
            </a:r>
            <a:r>
              <a:rPr lang="en-US" altLang="ko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고령 임신</a:t>
            </a: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, 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다태아 증가 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등과 관련된 현상</a:t>
            </a: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9" name="Freeform 39">
            <a:extLst>
              <a:ext uri="{FF2B5EF4-FFF2-40B4-BE49-F238E27FC236}">
                <a16:creationId xmlns:a16="http://schemas.microsoft.com/office/drawing/2014/main" id="{97BE5775-D19D-FA47-A29A-6983540FA2E6}"/>
              </a:ext>
            </a:extLst>
          </p:cNvPr>
          <p:cNvSpPr/>
          <p:nvPr/>
        </p:nvSpPr>
        <p:spPr>
          <a:xfrm rot="5400000">
            <a:off x="13534677" y="5981921"/>
            <a:ext cx="781837" cy="712449"/>
          </a:xfrm>
          <a:custGeom>
            <a:avLst/>
            <a:gdLst/>
            <a:ahLst/>
            <a:cxnLst/>
            <a:rect l="l" t="t" r="r" b="b"/>
            <a:pathLst>
              <a:path w="781837" h="712449">
                <a:moveTo>
                  <a:pt x="0" y="0"/>
                </a:moveTo>
                <a:lnTo>
                  <a:pt x="781838" y="0"/>
                </a:lnTo>
                <a:lnTo>
                  <a:pt x="781838" y="712449"/>
                </a:lnTo>
                <a:lnTo>
                  <a:pt x="0" y="712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122370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4BD1F-B253-B435-3AE0-CFC18355A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3C96F06-DEC5-5834-EE79-0311CF8F1EEE}"/>
              </a:ext>
            </a:extLst>
          </p:cNvPr>
          <p:cNvGrpSpPr/>
          <p:nvPr/>
        </p:nvGrpSpPr>
        <p:grpSpPr>
          <a:xfrm>
            <a:off x="0" y="10144057"/>
            <a:ext cx="18288000" cy="157327"/>
            <a:chOff x="0" y="0"/>
            <a:chExt cx="4816593" cy="4143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54D64E9-1361-02BE-5F3B-93E259D856B7}"/>
                </a:ext>
              </a:extLst>
            </p:cNvPr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E2CCD73-AC02-1180-E61A-3C821510CEF3}"/>
                </a:ext>
              </a:extLst>
            </p:cNvPr>
            <p:cNvSpPr txBox="1"/>
            <p:nvPr/>
          </p:nvSpPr>
          <p:spPr>
            <a:xfrm>
              <a:off x="0" y="-38100"/>
              <a:ext cx="4816593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5A42A6E-09D9-FDB1-97C8-E7BEB9762B34}"/>
              </a:ext>
            </a:extLst>
          </p:cNvPr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6C5C745-4A38-87B3-8D73-4C71A372D788}"/>
                </a:ext>
              </a:extLst>
            </p:cNvPr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625FB58-A646-E3C3-D975-6E8A9A37CF1A}"/>
                </a:ext>
              </a:extLst>
            </p:cNvPr>
            <p:cNvSpPr txBox="1"/>
            <p:nvPr/>
          </p:nvSpPr>
          <p:spPr>
            <a:xfrm>
              <a:off x="0" y="-38100"/>
              <a:ext cx="2448435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14" name="TextBox 10">
            <a:extLst>
              <a:ext uri="{FF2B5EF4-FFF2-40B4-BE49-F238E27FC236}">
                <a16:creationId xmlns:a16="http://schemas.microsoft.com/office/drawing/2014/main" id="{4EC42F62-5C38-81C2-2FD6-1BC700292B83}"/>
              </a:ext>
            </a:extLst>
          </p:cNvPr>
          <p:cNvSpPr txBox="1"/>
          <p:nvPr/>
        </p:nvSpPr>
        <p:spPr>
          <a:xfrm rot="-18144">
            <a:off x="1493048" y="559824"/>
            <a:ext cx="10012374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195"/>
              </a:lnSpc>
            </a:pPr>
            <a:r>
              <a:rPr lang="en-US" altLang="ko-KR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[C]</a:t>
            </a:r>
            <a:r>
              <a:rPr lang="ko-KR" altLang="en-US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 저출산 고령화와 의료비</a:t>
            </a:r>
            <a:endParaRPr lang="en-US" sz="5600" spc="-309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6" name="AutoShape 18">
            <a:extLst>
              <a:ext uri="{FF2B5EF4-FFF2-40B4-BE49-F238E27FC236}">
                <a16:creationId xmlns:a16="http://schemas.microsoft.com/office/drawing/2014/main" id="{51C4DA18-0704-E117-B0EB-9A53EF6FF898}"/>
              </a:ext>
            </a:extLst>
          </p:cNvPr>
          <p:cNvSpPr/>
          <p:nvPr/>
        </p:nvSpPr>
        <p:spPr>
          <a:xfrm>
            <a:off x="726970" y="2171700"/>
            <a:ext cx="16708947" cy="0"/>
          </a:xfrm>
          <a:prstGeom prst="line">
            <a:avLst/>
          </a:prstGeom>
          <a:ln w="9525" cap="flat">
            <a:solidFill>
              <a:srgbClr val="5E61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25544CA1-320E-BB88-94A9-6705782BB3A1}"/>
              </a:ext>
            </a:extLst>
          </p:cNvPr>
          <p:cNvSpPr txBox="1"/>
          <p:nvPr/>
        </p:nvSpPr>
        <p:spPr>
          <a:xfrm>
            <a:off x="726970" y="708723"/>
            <a:ext cx="1042830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</a:t>
            </a:r>
            <a:r>
              <a:rPr lang="en-US" altLang="ko-KR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3</a:t>
            </a:r>
            <a:endParaRPr lang="en-US" sz="4000" spc="-57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94811ADA-A1C8-4D27-F1BF-30729A2C8517}"/>
              </a:ext>
            </a:extLst>
          </p:cNvPr>
          <p:cNvSpPr txBox="1"/>
          <p:nvPr/>
        </p:nvSpPr>
        <p:spPr>
          <a:xfrm>
            <a:off x="1567142" y="1559508"/>
            <a:ext cx="6129058" cy="602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[C-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1</a:t>
            </a: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] 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신생아 수와 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16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번 진료비</a:t>
            </a:r>
            <a:endParaRPr lang="en-US" altLang="ko-KR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  <a:p>
            <a:pPr>
              <a:lnSpc>
                <a:spcPts val="2310"/>
              </a:lnSpc>
            </a:pPr>
            <a:endParaRPr lang="en-US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739D73EF-BD89-B226-F2E1-CF17DFD20E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F8545C3C-CDB3-8EC8-AD7F-30BE581EC5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049F6F0A-CEC3-E11D-92E5-8295DA00EAFE}"/>
              </a:ext>
            </a:extLst>
          </p:cNvPr>
          <p:cNvSpPr txBox="1"/>
          <p:nvPr/>
        </p:nvSpPr>
        <p:spPr>
          <a:xfrm>
            <a:off x="9753600" y="1559508"/>
            <a:ext cx="6129058" cy="307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[C-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2</a:t>
            </a: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] 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고령 인구와 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5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번 진료비</a:t>
            </a:r>
            <a:endParaRPr lang="en-US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pic>
        <p:nvPicPr>
          <p:cNvPr id="9" name="그림 8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D28190-6649-082F-0CE6-A87446A5A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764" y="2547504"/>
            <a:ext cx="7344944" cy="5262996"/>
          </a:xfrm>
          <a:prstGeom prst="rect">
            <a:avLst/>
          </a:prstGeom>
        </p:spPr>
      </p:pic>
      <p:pic>
        <p:nvPicPr>
          <p:cNvPr id="19" name="그림 18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10B2F2-7A92-8784-EAEF-C51530C199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1456" y="2547504"/>
            <a:ext cx="7344944" cy="5262996"/>
          </a:xfrm>
          <a:prstGeom prst="rect">
            <a:avLst/>
          </a:prstGeom>
        </p:spPr>
      </p:pic>
      <p:sp>
        <p:nvSpPr>
          <p:cNvPr id="20" name="TextBox 11">
            <a:extLst>
              <a:ext uri="{FF2B5EF4-FFF2-40B4-BE49-F238E27FC236}">
                <a16:creationId xmlns:a16="http://schemas.microsoft.com/office/drawing/2014/main" id="{7D1A8EBA-9917-1DC5-D921-B4A2006653EE}"/>
              </a:ext>
            </a:extLst>
          </p:cNvPr>
          <p:cNvSpPr txBox="1"/>
          <p:nvPr/>
        </p:nvSpPr>
        <p:spPr>
          <a:xfrm>
            <a:off x="1670997" y="7980917"/>
            <a:ext cx="7391396" cy="1043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📌 </a:t>
            </a:r>
            <a:r>
              <a:rPr lang="ko-Kore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출생아 수</a:t>
            </a:r>
            <a:r>
              <a:rPr lang="ko-Kore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는 </a:t>
            </a:r>
            <a:r>
              <a:rPr lang="ko-Kore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감소</a:t>
            </a:r>
            <a:r>
              <a:rPr lang="ko-Kore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하는데</a:t>
            </a:r>
            <a:r>
              <a:rPr lang="en-US" altLang="ko-Kore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16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번 진료비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는 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증가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하여 서로 간격이 멀어진다</a:t>
            </a:r>
            <a:endParaRPr lang="en-US" altLang="ko-KR" sz="2400" b="1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980F5BD1-2EBF-43C9-FD97-1C62DF23A2E6}"/>
              </a:ext>
            </a:extLst>
          </p:cNvPr>
          <p:cNvSpPr txBox="1"/>
          <p:nvPr/>
        </p:nvSpPr>
        <p:spPr>
          <a:xfrm>
            <a:off x="9734550" y="7980917"/>
            <a:ext cx="7391396" cy="1043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📌 </a:t>
            </a:r>
            <a:r>
              <a:rPr lang="ko-Kore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고령 인구</a:t>
            </a:r>
            <a:r>
              <a:rPr lang="ko-Kore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와 </a:t>
            </a: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5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번 진료비 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모두 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증가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하는데</a:t>
            </a:r>
            <a:r>
              <a:rPr lang="en-US" altLang="ko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5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번 진료비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의 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증가 속도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가 훨씬 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빠르다</a:t>
            </a:r>
            <a:endParaRPr lang="en-US" altLang="ko-KR" sz="2400" b="1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60122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2B22-CB53-2E7B-9F6B-06D6C125A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9F9F454-1952-8281-B826-7512D9E88A0B}"/>
              </a:ext>
            </a:extLst>
          </p:cNvPr>
          <p:cNvGrpSpPr/>
          <p:nvPr/>
        </p:nvGrpSpPr>
        <p:grpSpPr>
          <a:xfrm>
            <a:off x="0" y="10144057"/>
            <a:ext cx="18288000" cy="157327"/>
            <a:chOff x="0" y="0"/>
            <a:chExt cx="4816593" cy="4143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1D5BBD9-116F-FC8F-9D4E-E59EFCDE8B26}"/>
                </a:ext>
              </a:extLst>
            </p:cNvPr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B9CC6E1-8B94-C845-80F6-0E817FC77748}"/>
                </a:ext>
              </a:extLst>
            </p:cNvPr>
            <p:cNvSpPr txBox="1"/>
            <p:nvPr/>
          </p:nvSpPr>
          <p:spPr>
            <a:xfrm>
              <a:off x="0" y="-38100"/>
              <a:ext cx="4816593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06535CD-E6B2-5BD8-9818-05DEFC84861B}"/>
              </a:ext>
            </a:extLst>
          </p:cNvPr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4EFA612-5781-06C1-9D92-EC0110E97EF1}"/>
                </a:ext>
              </a:extLst>
            </p:cNvPr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488710A-C46E-EE0E-1059-EAC956D8CDBC}"/>
                </a:ext>
              </a:extLst>
            </p:cNvPr>
            <p:cNvSpPr txBox="1"/>
            <p:nvPr/>
          </p:nvSpPr>
          <p:spPr>
            <a:xfrm>
              <a:off x="0" y="-38100"/>
              <a:ext cx="2448435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14" name="TextBox 10">
            <a:extLst>
              <a:ext uri="{FF2B5EF4-FFF2-40B4-BE49-F238E27FC236}">
                <a16:creationId xmlns:a16="http://schemas.microsoft.com/office/drawing/2014/main" id="{F1283F53-EA8A-000B-9345-88060261C65E}"/>
              </a:ext>
            </a:extLst>
          </p:cNvPr>
          <p:cNvSpPr txBox="1"/>
          <p:nvPr/>
        </p:nvSpPr>
        <p:spPr>
          <a:xfrm rot="-18144">
            <a:off x="1493048" y="559824"/>
            <a:ext cx="10012374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195"/>
              </a:lnSpc>
            </a:pPr>
            <a:r>
              <a:rPr lang="en-US" altLang="ko-KR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[C]</a:t>
            </a:r>
            <a:r>
              <a:rPr lang="ko-KR" altLang="en-US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 저출산 고령화와 의료비</a:t>
            </a:r>
            <a:endParaRPr lang="en-US" sz="5600" spc="-309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6" name="AutoShape 18">
            <a:extLst>
              <a:ext uri="{FF2B5EF4-FFF2-40B4-BE49-F238E27FC236}">
                <a16:creationId xmlns:a16="http://schemas.microsoft.com/office/drawing/2014/main" id="{FD253A6A-87DD-E57B-70AC-21868AF7217F}"/>
              </a:ext>
            </a:extLst>
          </p:cNvPr>
          <p:cNvSpPr/>
          <p:nvPr/>
        </p:nvSpPr>
        <p:spPr>
          <a:xfrm>
            <a:off x="726970" y="2171700"/>
            <a:ext cx="16708947" cy="0"/>
          </a:xfrm>
          <a:prstGeom prst="line">
            <a:avLst/>
          </a:prstGeom>
          <a:ln w="9525" cap="flat">
            <a:solidFill>
              <a:srgbClr val="5E61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BC49E378-5277-970E-4087-03E842993AF8}"/>
              </a:ext>
            </a:extLst>
          </p:cNvPr>
          <p:cNvSpPr txBox="1"/>
          <p:nvPr/>
        </p:nvSpPr>
        <p:spPr>
          <a:xfrm>
            <a:off x="726970" y="708723"/>
            <a:ext cx="1042830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</a:t>
            </a:r>
            <a:r>
              <a:rPr lang="en-US" altLang="ko-KR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3</a:t>
            </a:r>
            <a:endParaRPr lang="en-US" sz="4000" spc="-57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746CF8DB-D194-DFB2-82E6-61E7E54C19F8}"/>
              </a:ext>
            </a:extLst>
          </p:cNvPr>
          <p:cNvSpPr txBox="1"/>
          <p:nvPr/>
        </p:nvSpPr>
        <p:spPr>
          <a:xfrm>
            <a:off x="1567142" y="1559508"/>
            <a:ext cx="6129058" cy="602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[C-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1</a:t>
            </a: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] 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신생아 수와 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16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번 진료비</a:t>
            </a:r>
            <a:endParaRPr lang="en-US" altLang="ko-KR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  <a:p>
            <a:pPr>
              <a:lnSpc>
                <a:spcPts val="2310"/>
              </a:lnSpc>
            </a:pPr>
            <a:endParaRPr lang="en-US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CD3CBD82-243E-56A8-4A31-959A7B5ABF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B559D8D5-5A52-6576-7E62-ED6D54A46B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0FD5A526-70D2-9CF4-3EBF-C520EC49AC99}"/>
              </a:ext>
            </a:extLst>
          </p:cNvPr>
          <p:cNvSpPr txBox="1"/>
          <p:nvPr/>
        </p:nvSpPr>
        <p:spPr>
          <a:xfrm>
            <a:off x="9753600" y="1559508"/>
            <a:ext cx="6129058" cy="307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[C-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2</a:t>
            </a: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] 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고령 인구와 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5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번 진료비</a:t>
            </a:r>
            <a:endParaRPr lang="en-US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pic>
        <p:nvPicPr>
          <p:cNvPr id="21" name="그림 20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BEA6C2-3D0B-E8BB-B265-ED8F082E9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62" y="2420002"/>
            <a:ext cx="7519938" cy="5388387"/>
          </a:xfrm>
          <a:prstGeom prst="rect">
            <a:avLst/>
          </a:prstGeom>
        </p:spPr>
      </p:pic>
      <p:pic>
        <p:nvPicPr>
          <p:cNvPr id="23" name="그림 22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A17669-3060-2994-C8DE-99EF703A0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062" y="2400300"/>
            <a:ext cx="7519938" cy="5388387"/>
          </a:xfrm>
          <a:prstGeom prst="rect">
            <a:avLst/>
          </a:prstGeom>
        </p:spPr>
      </p:pic>
      <p:sp>
        <p:nvSpPr>
          <p:cNvPr id="24" name="TextBox 11">
            <a:extLst>
              <a:ext uri="{FF2B5EF4-FFF2-40B4-BE49-F238E27FC236}">
                <a16:creationId xmlns:a16="http://schemas.microsoft.com/office/drawing/2014/main" id="{1B9A1455-B702-18D0-9DE1-9F2131F257AF}"/>
              </a:ext>
            </a:extLst>
          </p:cNvPr>
          <p:cNvSpPr txBox="1"/>
          <p:nvPr/>
        </p:nvSpPr>
        <p:spPr>
          <a:xfrm>
            <a:off x="5448300" y="8382000"/>
            <a:ext cx="7391396" cy="1043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📌 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시계열 모델 </a:t>
            </a:r>
            <a:r>
              <a:rPr lang="en-US" altLang="ko-KR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(ARIMA) 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을 통한 향후 </a:t>
            </a:r>
            <a:r>
              <a:rPr lang="en-US" altLang="ko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5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년 예측 결과</a:t>
            </a:r>
            <a:r>
              <a:rPr lang="en-US" altLang="ko-KR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, 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미래에도 </a:t>
            </a:r>
            <a:r>
              <a:rPr lang="ko-KR" altLang="en-US" sz="2400" b="1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지금과 같은 추세가 유지</a:t>
            </a:r>
            <a:r>
              <a:rPr lang="ko-KR" altLang="en-US" sz="2400" spc="-25" dirty="0">
                <a:solidFill>
                  <a:schemeClr val="bg1">
                    <a:lumMod val="50000"/>
                  </a:schemeClr>
                </a:solidFill>
                <a:latin typeface="NanumGothic"/>
                <a:ea typeface="NanumGothic"/>
                <a:cs typeface="NanumGothic"/>
                <a:sym typeface="Nanum Gothic"/>
              </a:rPr>
              <a:t>될 것으로 예상</a:t>
            </a:r>
            <a:endParaRPr lang="en-US" altLang="ko-KR" sz="2400" spc="-25" dirty="0">
              <a:solidFill>
                <a:schemeClr val="bg1">
                  <a:lumMod val="50000"/>
                </a:schemeClr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7249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B6643-2781-0E14-296A-9020E92F6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A720CE4-19B0-836B-FFCA-C14505E68E13}"/>
              </a:ext>
            </a:extLst>
          </p:cNvPr>
          <p:cNvGrpSpPr/>
          <p:nvPr/>
        </p:nvGrpSpPr>
        <p:grpSpPr>
          <a:xfrm>
            <a:off x="152400" y="10165988"/>
            <a:ext cx="18288000" cy="157327"/>
            <a:chOff x="0" y="0"/>
            <a:chExt cx="4816593" cy="4143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5AB66E5-5CEB-9B02-C32A-3FAADE36AA14}"/>
                </a:ext>
              </a:extLst>
            </p:cNvPr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B2556CB-6952-1297-A34E-0E7200C067EA}"/>
                </a:ext>
              </a:extLst>
            </p:cNvPr>
            <p:cNvSpPr txBox="1"/>
            <p:nvPr/>
          </p:nvSpPr>
          <p:spPr>
            <a:xfrm>
              <a:off x="0" y="-38100"/>
              <a:ext cx="4816593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5644696-8296-BF44-8C3F-17DECF9956F3}"/>
              </a:ext>
            </a:extLst>
          </p:cNvPr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A0E2573-A688-1FCD-1E0A-C82457C82005}"/>
                </a:ext>
              </a:extLst>
            </p:cNvPr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EC3712C-F893-1599-64B2-A8CDB605C127}"/>
                </a:ext>
              </a:extLst>
            </p:cNvPr>
            <p:cNvSpPr txBox="1"/>
            <p:nvPr/>
          </p:nvSpPr>
          <p:spPr>
            <a:xfrm>
              <a:off x="0" y="-38100"/>
              <a:ext cx="2448435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14" name="TextBox 10">
            <a:extLst>
              <a:ext uri="{FF2B5EF4-FFF2-40B4-BE49-F238E27FC236}">
                <a16:creationId xmlns:a16="http://schemas.microsoft.com/office/drawing/2014/main" id="{5C6AA855-378B-15D0-18ED-DB7AB1AC7C8E}"/>
              </a:ext>
            </a:extLst>
          </p:cNvPr>
          <p:cNvSpPr txBox="1"/>
          <p:nvPr/>
        </p:nvSpPr>
        <p:spPr>
          <a:xfrm rot="-18144">
            <a:off x="1493048" y="559824"/>
            <a:ext cx="10012374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195"/>
              </a:lnSpc>
            </a:pPr>
            <a:r>
              <a:rPr lang="ko-KR" altLang="en-US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시사점</a:t>
            </a:r>
            <a:endParaRPr lang="en-US" sz="5600" spc="-309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6" name="AutoShape 18">
            <a:extLst>
              <a:ext uri="{FF2B5EF4-FFF2-40B4-BE49-F238E27FC236}">
                <a16:creationId xmlns:a16="http://schemas.microsoft.com/office/drawing/2014/main" id="{95374FB7-985B-0049-9A63-51CE705C5981}"/>
              </a:ext>
            </a:extLst>
          </p:cNvPr>
          <p:cNvSpPr/>
          <p:nvPr/>
        </p:nvSpPr>
        <p:spPr>
          <a:xfrm>
            <a:off x="726970" y="2171700"/>
            <a:ext cx="16708947" cy="0"/>
          </a:xfrm>
          <a:prstGeom prst="line">
            <a:avLst/>
          </a:prstGeom>
          <a:ln w="9525" cap="flat">
            <a:solidFill>
              <a:srgbClr val="5E61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3FA4BB0A-B7F3-3C9C-A7E7-30802B73025E}"/>
              </a:ext>
            </a:extLst>
          </p:cNvPr>
          <p:cNvSpPr txBox="1"/>
          <p:nvPr/>
        </p:nvSpPr>
        <p:spPr>
          <a:xfrm>
            <a:off x="726970" y="708723"/>
            <a:ext cx="1042830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</a:t>
            </a:r>
            <a:r>
              <a:rPr lang="en-US" altLang="ko-KR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4</a:t>
            </a:r>
            <a:endParaRPr lang="en-US" sz="4000" spc="-57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B57165D9-1AD4-6693-05D2-F0518A23C235}"/>
              </a:ext>
            </a:extLst>
          </p:cNvPr>
          <p:cNvSpPr txBox="1"/>
          <p:nvPr/>
        </p:nvSpPr>
        <p:spPr>
          <a:xfrm>
            <a:off x="1567142" y="1559508"/>
            <a:ext cx="6129058" cy="307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[C-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1</a:t>
            </a: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]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 출산 관련</a:t>
            </a:r>
            <a:endParaRPr lang="en-US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94B59252-8445-28C8-159A-D4E7FEB900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83BEFE69-1E73-5C2A-CA88-035FE5B285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>
              <a:latin typeface="NanumGothic" pitchFamily="2" charset="-127"/>
              <a:ea typeface="NanumGothic" pitchFamily="2" charset="-127"/>
            </a:endParaRPr>
          </a:p>
        </p:txBody>
      </p:sp>
      <p:pic>
        <p:nvPicPr>
          <p:cNvPr id="10" name="그림 9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81E5C7-463E-5A04-4A68-F6CF4B72A2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06"/>
          <a:stretch>
            <a:fillRect/>
          </a:stretch>
        </p:blipFill>
        <p:spPr>
          <a:xfrm>
            <a:off x="8970372" y="2453425"/>
            <a:ext cx="8860428" cy="3352797"/>
          </a:xfrm>
          <a:prstGeom prst="rect">
            <a:avLst/>
          </a:prstGeom>
        </p:spPr>
      </p:pic>
      <p:pic>
        <p:nvPicPr>
          <p:cNvPr id="13" name="그림 1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48A967-0642-0D9B-1834-534A8D46B6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710"/>
          <a:stretch>
            <a:fillRect/>
          </a:stretch>
        </p:blipFill>
        <p:spPr>
          <a:xfrm>
            <a:off x="8970372" y="5905503"/>
            <a:ext cx="7599673" cy="3352797"/>
          </a:xfrm>
          <a:prstGeom prst="rect">
            <a:avLst/>
          </a:prstGeom>
        </p:spPr>
      </p:pic>
      <p:sp>
        <p:nvSpPr>
          <p:cNvPr id="52" name="TextBox 35">
            <a:extLst>
              <a:ext uri="{FF2B5EF4-FFF2-40B4-BE49-F238E27FC236}">
                <a16:creationId xmlns:a16="http://schemas.microsoft.com/office/drawing/2014/main" id="{04C69AF6-803D-E79C-80D8-549930A8C3B3}"/>
              </a:ext>
            </a:extLst>
          </p:cNvPr>
          <p:cNvSpPr txBox="1"/>
          <p:nvPr/>
        </p:nvSpPr>
        <p:spPr>
          <a:xfrm>
            <a:off x="17532734" y="95164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CB92556D-76C4-8C89-A820-751FE52A5AD7}"/>
              </a:ext>
            </a:extLst>
          </p:cNvPr>
          <p:cNvGrpSpPr/>
          <p:nvPr/>
        </p:nvGrpSpPr>
        <p:grpSpPr>
          <a:xfrm>
            <a:off x="533400" y="2552700"/>
            <a:ext cx="8077200" cy="6934200"/>
            <a:chOff x="533400" y="2895603"/>
            <a:chExt cx="8077200" cy="6934200"/>
          </a:xfrm>
        </p:grpSpPr>
        <p:grpSp>
          <p:nvGrpSpPr>
            <p:cNvPr id="19" name="Group 3">
              <a:extLst>
                <a:ext uri="{FF2B5EF4-FFF2-40B4-BE49-F238E27FC236}">
                  <a16:creationId xmlns:a16="http://schemas.microsoft.com/office/drawing/2014/main" id="{23A27925-E2C9-4E18-F915-F4BB07DEB231}"/>
                </a:ext>
              </a:extLst>
            </p:cNvPr>
            <p:cNvGrpSpPr/>
            <p:nvPr/>
          </p:nvGrpSpPr>
          <p:grpSpPr>
            <a:xfrm>
              <a:off x="1378842" y="4157162"/>
              <a:ext cx="5908793" cy="689610"/>
              <a:chOff x="0" y="0"/>
              <a:chExt cx="1556225" cy="181626"/>
            </a:xfrm>
          </p:grpSpPr>
          <p:sp>
            <p:nvSpPr>
              <p:cNvPr id="20" name="Freeform 4">
                <a:extLst>
                  <a:ext uri="{FF2B5EF4-FFF2-40B4-BE49-F238E27FC236}">
                    <a16:creationId xmlns:a16="http://schemas.microsoft.com/office/drawing/2014/main" id="{3AAF3118-4FBF-C26D-E28B-0137C0E4E726}"/>
                  </a:ext>
                </a:extLst>
              </p:cNvPr>
              <p:cNvSpPr/>
              <p:nvPr/>
            </p:nvSpPr>
            <p:spPr>
              <a:xfrm>
                <a:off x="0" y="0"/>
                <a:ext cx="1556225" cy="181626"/>
              </a:xfrm>
              <a:custGeom>
                <a:avLst/>
                <a:gdLst/>
                <a:ahLst/>
                <a:cxnLst/>
                <a:rect l="l" t="t" r="r" b="b"/>
                <a:pathLst>
                  <a:path w="1556225" h="181626">
                    <a:moveTo>
                      <a:pt x="0" y="0"/>
                    </a:moveTo>
                    <a:lnTo>
                      <a:pt x="1556225" y="0"/>
                    </a:lnTo>
                    <a:lnTo>
                      <a:pt x="1556225" y="181626"/>
                    </a:lnTo>
                    <a:lnTo>
                      <a:pt x="0" y="181626"/>
                    </a:lnTo>
                    <a:close/>
                  </a:path>
                </a:pathLst>
              </a:custGeom>
              <a:solidFill>
                <a:srgbClr val="407F50"/>
              </a:solidFill>
            </p:spPr>
            <p:txBody>
              <a:bodyPr/>
              <a:lstStyle/>
              <a:p>
                <a:endParaRPr lang="ko-Kore-KR" altLang="en-US">
                  <a:latin typeface="NanumGothic" pitchFamily="2" charset="-127"/>
                  <a:ea typeface="NanumGothic" pitchFamily="2" charset="-127"/>
                </a:endParaRPr>
              </a:p>
            </p:txBody>
          </p:sp>
          <p:sp>
            <p:nvSpPr>
              <p:cNvPr id="22" name="TextBox 5">
                <a:extLst>
                  <a:ext uri="{FF2B5EF4-FFF2-40B4-BE49-F238E27FC236}">
                    <a16:creationId xmlns:a16="http://schemas.microsoft.com/office/drawing/2014/main" id="{F65DAA9D-7255-2C3F-32C8-DE092CFDB83E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556225" cy="2102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80"/>
                  </a:lnSpc>
                </a:pPr>
                <a:endParaRPr>
                  <a:latin typeface="NanumGothic" pitchFamily="2" charset="-127"/>
                  <a:ea typeface="NanumGothic" pitchFamily="2" charset="-127"/>
                </a:endParaRPr>
              </a:p>
            </p:txBody>
          </p:sp>
        </p:grpSp>
        <p:grpSp>
          <p:nvGrpSpPr>
            <p:cNvPr id="27" name="Group 9">
              <a:extLst>
                <a:ext uri="{FF2B5EF4-FFF2-40B4-BE49-F238E27FC236}">
                  <a16:creationId xmlns:a16="http://schemas.microsoft.com/office/drawing/2014/main" id="{2F72FC9A-9550-FD38-2380-D83B8055588A}"/>
                </a:ext>
              </a:extLst>
            </p:cNvPr>
            <p:cNvGrpSpPr/>
            <p:nvPr/>
          </p:nvGrpSpPr>
          <p:grpSpPr>
            <a:xfrm>
              <a:off x="533402" y="5782117"/>
              <a:ext cx="7599674" cy="689885"/>
              <a:chOff x="0" y="0"/>
              <a:chExt cx="10746507" cy="919847"/>
            </a:xfrm>
          </p:grpSpPr>
          <p:grpSp>
            <p:nvGrpSpPr>
              <p:cNvPr id="28" name="Group 10">
                <a:extLst>
                  <a:ext uri="{FF2B5EF4-FFF2-40B4-BE49-F238E27FC236}">
                    <a16:creationId xmlns:a16="http://schemas.microsoft.com/office/drawing/2014/main" id="{E37C6B15-FFE8-6705-27A8-DBA52E0D6FEE}"/>
                  </a:ext>
                </a:extLst>
              </p:cNvPr>
              <p:cNvGrpSpPr/>
              <p:nvPr/>
            </p:nvGrpSpPr>
            <p:grpSpPr>
              <a:xfrm>
                <a:off x="0" y="0"/>
                <a:ext cx="5373254" cy="919847"/>
                <a:chOff x="0" y="0"/>
                <a:chExt cx="1061383" cy="181698"/>
              </a:xfrm>
            </p:grpSpPr>
            <p:sp>
              <p:nvSpPr>
                <p:cNvPr id="32" name="Freeform 11">
                  <a:extLst>
                    <a:ext uri="{FF2B5EF4-FFF2-40B4-BE49-F238E27FC236}">
                      <a16:creationId xmlns:a16="http://schemas.microsoft.com/office/drawing/2014/main" id="{6E8A538D-1AAC-E810-EA16-4FA31F6C190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61383" cy="181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1383" h="181698">
                      <a:moveTo>
                        <a:pt x="0" y="0"/>
                      </a:moveTo>
                      <a:lnTo>
                        <a:pt x="1061383" y="0"/>
                      </a:lnTo>
                      <a:lnTo>
                        <a:pt x="1061383" y="181698"/>
                      </a:lnTo>
                      <a:lnTo>
                        <a:pt x="0" y="181698"/>
                      </a:lnTo>
                      <a:close/>
                    </a:path>
                  </a:pathLst>
                </a:custGeom>
                <a:solidFill>
                  <a:srgbClr val="407F50"/>
                </a:solidFill>
              </p:spPr>
              <p:txBody>
                <a:bodyPr/>
                <a:lstStyle/>
                <a:p>
                  <a:endParaRPr lang="ko-Kore-KR" altLang="en-US"/>
                </a:p>
              </p:txBody>
            </p:sp>
            <p:sp>
              <p:nvSpPr>
                <p:cNvPr id="33" name="TextBox 12">
                  <a:extLst>
                    <a:ext uri="{FF2B5EF4-FFF2-40B4-BE49-F238E27FC236}">
                      <a16:creationId xmlns:a16="http://schemas.microsoft.com/office/drawing/2014/main" id="{BD3EE79F-C50F-8FC1-7011-45F181818CED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061383" cy="21027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780"/>
                    </a:lnSpc>
                  </a:pPr>
                  <a:endParaRPr/>
                </a:p>
              </p:txBody>
            </p:sp>
          </p:grpSp>
          <p:grpSp>
            <p:nvGrpSpPr>
              <p:cNvPr id="29" name="Group 13">
                <a:extLst>
                  <a:ext uri="{FF2B5EF4-FFF2-40B4-BE49-F238E27FC236}">
                    <a16:creationId xmlns:a16="http://schemas.microsoft.com/office/drawing/2014/main" id="{0138F3D8-E26E-AD7F-D0A6-FFBC99145519}"/>
                  </a:ext>
                </a:extLst>
              </p:cNvPr>
              <p:cNvGrpSpPr/>
              <p:nvPr/>
            </p:nvGrpSpPr>
            <p:grpSpPr>
              <a:xfrm>
                <a:off x="5373254" y="0"/>
                <a:ext cx="5373254" cy="919847"/>
                <a:chOff x="0" y="0"/>
                <a:chExt cx="1061383" cy="181698"/>
              </a:xfrm>
            </p:grpSpPr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8766C99F-E85A-BD00-8B28-0D0B58D290B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61383" cy="181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1383" h="181698">
                      <a:moveTo>
                        <a:pt x="0" y="0"/>
                      </a:moveTo>
                      <a:lnTo>
                        <a:pt x="1061383" y="0"/>
                      </a:lnTo>
                      <a:lnTo>
                        <a:pt x="1061383" y="181698"/>
                      </a:lnTo>
                      <a:lnTo>
                        <a:pt x="0" y="181698"/>
                      </a:lnTo>
                      <a:close/>
                    </a:path>
                  </a:pathLst>
                </a:custGeom>
                <a:solidFill>
                  <a:srgbClr val="EFECEC"/>
                </a:solidFill>
              </p:spPr>
              <p:txBody>
                <a:bodyPr/>
                <a:lstStyle/>
                <a:p>
                  <a:endParaRPr lang="ko-Kore-KR" altLang="en-US"/>
                </a:p>
              </p:txBody>
            </p:sp>
            <p:sp>
              <p:nvSpPr>
                <p:cNvPr id="31" name="TextBox 15">
                  <a:extLst>
                    <a:ext uri="{FF2B5EF4-FFF2-40B4-BE49-F238E27FC236}">
                      <a16:creationId xmlns:a16="http://schemas.microsoft.com/office/drawing/2014/main" id="{9E8E8AFE-49C4-2E69-1B3D-4319CB551029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061383" cy="21027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780"/>
                    </a:lnSpc>
                  </a:pPr>
                  <a:endParaRPr/>
                </a:p>
              </p:txBody>
            </p:sp>
          </p:grpSp>
        </p:grpSp>
        <p:sp>
          <p:nvSpPr>
            <p:cNvPr id="42" name="TextBox 25">
              <a:extLst>
                <a:ext uri="{FF2B5EF4-FFF2-40B4-BE49-F238E27FC236}">
                  <a16:creationId xmlns:a16="http://schemas.microsoft.com/office/drawing/2014/main" id="{7599DAA8-EFBB-C225-A312-6864A42A4659}"/>
                </a:ext>
              </a:extLst>
            </p:cNvPr>
            <p:cNvSpPr txBox="1"/>
            <p:nvPr/>
          </p:nvSpPr>
          <p:spPr>
            <a:xfrm>
              <a:off x="554184" y="6506186"/>
              <a:ext cx="3779055" cy="9614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dirty="0" err="1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 Bold"/>
                  <a:sym typeface="Source Han Sans KR Bold"/>
                </a:rPr>
                <a:t>공단부담금</a:t>
              </a:r>
              <a:endParaRPr lang="en-US" sz="2799" b="1" dirty="0">
                <a:solidFill>
                  <a:srgbClr val="2B2B2B"/>
                </a:solidFill>
                <a:latin typeface="NanumGothic" pitchFamily="2" charset="-127"/>
                <a:ea typeface="NanumGothic" pitchFamily="2" charset="-127"/>
                <a:cs typeface="Source Han Sans KR Bold"/>
                <a:sym typeface="Source Han Sans KR Bold"/>
              </a:endParaRPr>
            </a:p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400" dirty="0" err="1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 Bold"/>
                  <a:sym typeface="Source Han Sans KR Bold"/>
                </a:rPr>
                <a:t>급여의</a:t>
              </a:r>
              <a:r>
                <a:rPr lang="en-US" sz="2400" dirty="0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 Bold"/>
                  <a:sym typeface="Source Han Sans KR Bold"/>
                </a:rPr>
                <a:t> </a:t>
              </a:r>
              <a:r>
                <a:rPr lang="en-US" sz="2400" dirty="0" err="1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 Bold"/>
                  <a:sym typeface="Source Han Sans KR Bold"/>
                </a:rPr>
                <a:t>약</a:t>
              </a:r>
              <a:r>
                <a:rPr lang="en-US" sz="2400" dirty="0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 Bold"/>
                  <a:sym typeface="Source Han Sans KR Bold"/>
                </a:rPr>
                <a:t> 80%</a:t>
              </a:r>
            </a:p>
          </p:txBody>
        </p:sp>
        <p:sp>
          <p:nvSpPr>
            <p:cNvPr id="43" name="TextBox 26">
              <a:extLst>
                <a:ext uri="{FF2B5EF4-FFF2-40B4-BE49-F238E27FC236}">
                  <a16:creationId xmlns:a16="http://schemas.microsoft.com/office/drawing/2014/main" id="{9F3F69F6-3A60-01B7-FFA8-19DE0B062961}"/>
                </a:ext>
              </a:extLst>
            </p:cNvPr>
            <p:cNvSpPr txBox="1"/>
            <p:nvPr/>
          </p:nvSpPr>
          <p:spPr>
            <a:xfrm>
              <a:off x="4333239" y="6506186"/>
              <a:ext cx="3779053" cy="9614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dirty="0" err="1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 Bold"/>
                  <a:sym typeface="Source Han Sans KR Bold"/>
                </a:rPr>
                <a:t>본인부담금</a:t>
              </a:r>
              <a:endParaRPr lang="en-US" sz="2799" b="1" dirty="0">
                <a:solidFill>
                  <a:srgbClr val="2B2B2B"/>
                </a:solidFill>
                <a:latin typeface="NanumGothic" pitchFamily="2" charset="-127"/>
                <a:ea typeface="NanumGothic" pitchFamily="2" charset="-127"/>
                <a:cs typeface="Source Han Sans KR Bold"/>
                <a:sym typeface="Source Han Sans KR Bold"/>
              </a:endParaRPr>
            </a:p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altLang="ko-Kore-KR" sz="2400" dirty="0" err="1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 Bold"/>
                  <a:sym typeface="Source Han Sans KR Bold"/>
                </a:rPr>
                <a:t>급여의</a:t>
              </a:r>
              <a:r>
                <a:rPr lang="en-US" altLang="ko-Kore-KR" sz="2400" dirty="0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 Bold"/>
                  <a:sym typeface="Source Han Sans KR Bold"/>
                </a:rPr>
                <a:t> </a:t>
              </a:r>
              <a:r>
                <a:rPr lang="en-US" altLang="ko-Kore-KR" sz="2400" dirty="0" err="1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 Bold"/>
                  <a:sym typeface="Source Han Sans KR Bold"/>
                </a:rPr>
                <a:t>약</a:t>
              </a:r>
              <a:r>
                <a:rPr lang="en-US" altLang="ko-Kore-KR" sz="2400" dirty="0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 Bold"/>
                  <a:sym typeface="Source Han Sans KR Bold"/>
                </a:rPr>
                <a:t> 20%</a:t>
              </a:r>
            </a:p>
          </p:txBody>
        </p:sp>
        <p:sp>
          <p:nvSpPr>
            <p:cNvPr id="45" name="TextBox 28">
              <a:extLst>
                <a:ext uri="{FF2B5EF4-FFF2-40B4-BE49-F238E27FC236}">
                  <a16:creationId xmlns:a16="http://schemas.microsoft.com/office/drawing/2014/main" id="{008DA7AA-0B61-A6FC-864D-5A92B3897FFE}"/>
                </a:ext>
              </a:extLst>
            </p:cNvPr>
            <p:cNvSpPr txBox="1"/>
            <p:nvPr/>
          </p:nvSpPr>
          <p:spPr>
            <a:xfrm>
              <a:off x="2851557" y="3086100"/>
              <a:ext cx="2963361" cy="9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dirty="0" err="1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 Bold"/>
                  <a:sym typeface="Source Han Sans KR Bold"/>
                </a:rPr>
                <a:t>급여</a:t>
              </a:r>
              <a:endParaRPr lang="en-US" sz="2799" b="1" dirty="0">
                <a:solidFill>
                  <a:srgbClr val="2B2B2B"/>
                </a:solidFill>
                <a:latin typeface="NanumGothic" pitchFamily="2" charset="-127"/>
                <a:ea typeface="NanumGothic" pitchFamily="2" charset="-127"/>
                <a:cs typeface="Source Han Sans KR Bold"/>
                <a:sym typeface="Source Han Sans KR Bold"/>
              </a:endParaRP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dirty="0" err="1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"/>
                  <a:sym typeface="Source Han Sans KR"/>
                </a:rPr>
                <a:t>건강보험</a:t>
              </a:r>
              <a:r>
                <a:rPr lang="en-US" sz="2400" dirty="0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"/>
                  <a:sym typeface="Source Han Sans KR"/>
                </a:rPr>
                <a:t> </a:t>
              </a:r>
              <a:r>
                <a:rPr lang="en-US" sz="2400" dirty="0" err="1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"/>
                  <a:sym typeface="Source Han Sans KR"/>
                </a:rPr>
                <a:t>적용</a:t>
              </a:r>
              <a:r>
                <a:rPr lang="en-US" sz="2400" dirty="0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"/>
                  <a:sym typeface="Source Han Sans KR"/>
                </a:rPr>
                <a:t> </a:t>
              </a:r>
              <a:r>
                <a:rPr lang="en-US" sz="2400" dirty="0" err="1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"/>
                  <a:sym typeface="Source Han Sans KR"/>
                </a:rPr>
                <a:t>범위</a:t>
              </a:r>
              <a:endParaRPr lang="en-US" sz="2400" dirty="0">
                <a:solidFill>
                  <a:srgbClr val="2B2B2B"/>
                </a:solidFill>
                <a:latin typeface="NanumGothic" pitchFamily="2" charset="-127"/>
                <a:ea typeface="NanumGothic" pitchFamily="2" charset="-127"/>
                <a:cs typeface="Source Han Sans KR"/>
                <a:sym typeface="Source Han Sans KR"/>
              </a:endParaRPr>
            </a:p>
          </p:txBody>
        </p:sp>
        <p:sp>
          <p:nvSpPr>
            <p:cNvPr id="47" name="TextBox 30">
              <a:extLst>
                <a:ext uri="{FF2B5EF4-FFF2-40B4-BE49-F238E27FC236}">
                  <a16:creationId xmlns:a16="http://schemas.microsoft.com/office/drawing/2014/main" id="{3419C02E-C054-7968-F5B7-C8F4C1A08921}"/>
                </a:ext>
              </a:extLst>
            </p:cNvPr>
            <p:cNvSpPr txBox="1"/>
            <p:nvPr/>
          </p:nvSpPr>
          <p:spPr>
            <a:xfrm>
              <a:off x="5223084" y="8025566"/>
              <a:ext cx="3005515" cy="14369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400" b="1" dirty="0" err="1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 Bold"/>
                  <a:sym typeface="Source Han Sans KR Bold"/>
                </a:rPr>
                <a:t>실손의료보험</a:t>
              </a:r>
              <a:endParaRPr lang="en-US" sz="2400" b="1" dirty="0">
                <a:solidFill>
                  <a:srgbClr val="2B2B2B"/>
                </a:solidFill>
                <a:latin typeface="NanumGothic" pitchFamily="2" charset="-127"/>
                <a:ea typeface="NanumGothic" pitchFamily="2" charset="-127"/>
                <a:cs typeface="Source Han Sans KR Bold"/>
                <a:sym typeface="Source Han Sans KR Bold"/>
              </a:endParaRPr>
            </a:p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400" b="1" dirty="0" err="1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 Bold"/>
                  <a:sym typeface="Source Han Sans KR Bold"/>
                </a:rPr>
                <a:t>신규보장범위</a:t>
              </a:r>
              <a:endParaRPr lang="en-US" sz="2400" b="1" dirty="0">
                <a:solidFill>
                  <a:srgbClr val="2B2B2B"/>
                </a:solidFill>
                <a:latin typeface="NanumGothic" pitchFamily="2" charset="-127"/>
                <a:ea typeface="NanumGothic" pitchFamily="2" charset="-127"/>
                <a:cs typeface="Source Han Sans KR Bold"/>
                <a:sym typeface="Source Han Sans KR Bold"/>
              </a:endParaRPr>
            </a:p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000" dirty="0" err="1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 Bold"/>
                  <a:sym typeface="Source Han Sans KR Bold"/>
                </a:rPr>
                <a:t>본인부담금의</a:t>
              </a:r>
              <a:r>
                <a:rPr lang="en-US" sz="2000" dirty="0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 Bold"/>
                  <a:sym typeface="Source Han Sans KR Bold"/>
                </a:rPr>
                <a:t> </a:t>
              </a:r>
              <a:r>
                <a:rPr lang="en-US" sz="2000" dirty="0" err="1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 Bold"/>
                  <a:sym typeface="Source Han Sans KR Bold"/>
                </a:rPr>
                <a:t>약</a:t>
              </a:r>
              <a:r>
                <a:rPr lang="en-US" sz="2000" dirty="0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 Bold"/>
                  <a:sym typeface="Source Han Sans KR Bold"/>
                </a:rPr>
                <a:t> </a:t>
              </a:r>
              <a:r>
                <a:rPr lang="en-US" altLang="ko-KR" sz="2000" dirty="0">
                  <a:solidFill>
                    <a:srgbClr val="2B2B2B"/>
                  </a:solidFill>
                  <a:latin typeface="NanumGothic" pitchFamily="2" charset="-127"/>
                  <a:ea typeface="NanumGothic" pitchFamily="2" charset="-127"/>
                  <a:cs typeface="Source Han Sans KR Bold"/>
                  <a:sym typeface="Source Han Sans KR Bold"/>
                </a:rPr>
                <a:t>80%</a:t>
              </a:r>
              <a:endParaRPr lang="en-US" sz="2000" dirty="0">
                <a:solidFill>
                  <a:srgbClr val="2B2B2B"/>
                </a:solidFill>
                <a:latin typeface="NanumGothic" pitchFamily="2" charset="-127"/>
                <a:ea typeface="NanumGothic" pitchFamily="2" charset="-127"/>
                <a:cs typeface="Source Han Sans KR Bold"/>
                <a:sym typeface="Source Han Sans KR Bold"/>
              </a:endParaRPr>
            </a:p>
          </p:txBody>
        </p:sp>
        <p:sp>
          <p:nvSpPr>
            <p:cNvPr id="48" name="AutoShape 31">
              <a:extLst>
                <a:ext uri="{FF2B5EF4-FFF2-40B4-BE49-F238E27FC236}">
                  <a16:creationId xmlns:a16="http://schemas.microsoft.com/office/drawing/2014/main" id="{E820CF30-CE20-2B76-0D32-CE3CD8C8C917}"/>
                </a:ext>
              </a:extLst>
            </p:cNvPr>
            <p:cNvSpPr/>
            <p:nvPr/>
          </p:nvSpPr>
          <p:spPr>
            <a:xfrm flipV="1">
              <a:off x="533400" y="4825183"/>
              <a:ext cx="886705" cy="956932"/>
            </a:xfrm>
            <a:prstGeom prst="line">
              <a:avLst/>
            </a:prstGeom>
            <a:ln w="38100" cap="flat">
              <a:solidFill>
                <a:srgbClr val="2B2B2B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9" name="AutoShape 32">
              <a:extLst>
                <a:ext uri="{FF2B5EF4-FFF2-40B4-BE49-F238E27FC236}">
                  <a16:creationId xmlns:a16="http://schemas.microsoft.com/office/drawing/2014/main" id="{2E8A0D78-FAEC-B980-B3D0-C934809D70D8}"/>
                </a:ext>
              </a:extLst>
            </p:cNvPr>
            <p:cNvSpPr/>
            <p:nvPr/>
          </p:nvSpPr>
          <p:spPr>
            <a:xfrm flipH="1" flipV="1">
              <a:off x="7287634" y="4825183"/>
              <a:ext cx="824657" cy="990633"/>
            </a:xfrm>
            <a:prstGeom prst="line">
              <a:avLst/>
            </a:prstGeom>
            <a:ln w="38100" cap="flat">
              <a:solidFill>
                <a:srgbClr val="2B2B2B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ore-KR" altLang="en-US">
                <a:latin typeface="NanumGothic" pitchFamily="2" charset="-127"/>
                <a:ea typeface="NanumGothic" pitchFamily="2" charset="-127"/>
              </a:endParaRPr>
            </a:p>
          </p:txBody>
        </p:sp>
        <p:grpSp>
          <p:nvGrpSpPr>
            <p:cNvPr id="53" name="Group 36">
              <a:extLst>
                <a:ext uri="{FF2B5EF4-FFF2-40B4-BE49-F238E27FC236}">
                  <a16:creationId xmlns:a16="http://schemas.microsoft.com/office/drawing/2014/main" id="{A7201E51-CA6C-9550-2672-79AFDBD7629C}"/>
                </a:ext>
              </a:extLst>
            </p:cNvPr>
            <p:cNvGrpSpPr/>
            <p:nvPr/>
          </p:nvGrpSpPr>
          <p:grpSpPr>
            <a:xfrm>
              <a:off x="5223084" y="7620003"/>
              <a:ext cx="2902521" cy="400767"/>
              <a:chOff x="25400" y="205450"/>
              <a:chExt cx="9868015" cy="849616"/>
            </a:xfrm>
          </p:grpSpPr>
          <p:sp>
            <p:nvSpPr>
              <p:cNvPr id="54" name="AutoShape 37">
                <a:extLst>
                  <a:ext uri="{FF2B5EF4-FFF2-40B4-BE49-F238E27FC236}">
                    <a16:creationId xmlns:a16="http://schemas.microsoft.com/office/drawing/2014/main" id="{2D860D2B-2D34-AE90-CF3E-FACC5A8DBCE6}"/>
                  </a:ext>
                </a:extLst>
              </p:cNvPr>
              <p:cNvSpPr/>
              <p:nvPr/>
            </p:nvSpPr>
            <p:spPr>
              <a:xfrm flipH="1" flipV="1">
                <a:off x="25400" y="205450"/>
                <a:ext cx="0" cy="849616"/>
              </a:xfrm>
              <a:prstGeom prst="line">
                <a:avLst/>
              </a:prstGeom>
              <a:ln w="50800" cap="flat">
                <a:solidFill>
                  <a:srgbClr val="2B2B2B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ko-Kore-KR" altLang="en-US">
                  <a:latin typeface="NanumGothic" pitchFamily="2" charset="-127"/>
                  <a:ea typeface="NanumGothic" pitchFamily="2" charset="-127"/>
                </a:endParaRPr>
              </a:p>
            </p:txBody>
          </p:sp>
          <p:sp>
            <p:nvSpPr>
              <p:cNvPr id="55" name="AutoShape 38">
                <a:extLst>
                  <a:ext uri="{FF2B5EF4-FFF2-40B4-BE49-F238E27FC236}">
                    <a16:creationId xmlns:a16="http://schemas.microsoft.com/office/drawing/2014/main" id="{5DB7FB6C-A757-822D-8D3B-026AD1FD6E3E}"/>
                  </a:ext>
                </a:extLst>
              </p:cNvPr>
              <p:cNvSpPr/>
              <p:nvPr/>
            </p:nvSpPr>
            <p:spPr>
              <a:xfrm flipV="1">
                <a:off x="9893415" y="205450"/>
                <a:ext cx="0" cy="849616"/>
              </a:xfrm>
              <a:prstGeom prst="line">
                <a:avLst/>
              </a:prstGeom>
              <a:ln w="50800" cap="flat">
                <a:solidFill>
                  <a:srgbClr val="2B2B2B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ko-Kore-KR" altLang="en-US">
                  <a:latin typeface="NanumGothic" pitchFamily="2" charset="-127"/>
                  <a:ea typeface="NanumGothic" pitchFamily="2" charset="-127"/>
                </a:endParaRPr>
              </a:p>
            </p:txBody>
          </p:sp>
          <p:sp>
            <p:nvSpPr>
              <p:cNvPr id="56" name="AutoShape 39">
                <a:extLst>
                  <a:ext uri="{FF2B5EF4-FFF2-40B4-BE49-F238E27FC236}">
                    <a16:creationId xmlns:a16="http://schemas.microsoft.com/office/drawing/2014/main" id="{087E4924-6D77-4E21-B878-A84F13A6BBBD}"/>
                  </a:ext>
                </a:extLst>
              </p:cNvPr>
              <p:cNvSpPr/>
              <p:nvPr/>
            </p:nvSpPr>
            <p:spPr>
              <a:xfrm>
                <a:off x="25400" y="1055066"/>
                <a:ext cx="9868015" cy="0"/>
              </a:xfrm>
              <a:prstGeom prst="line">
                <a:avLst/>
              </a:prstGeom>
              <a:ln w="50800" cap="flat">
                <a:solidFill>
                  <a:srgbClr val="2B2B2B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ko-Kore-KR" altLang="en-US" dirty="0">
                  <a:latin typeface="NanumGothic" pitchFamily="2" charset="-127"/>
                  <a:ea typeface="NanumGothic" pitchFamily="2" charset="-127"/>
                </a:endParaRPr>
              </a:p>
            </p:txBody>
          </p:sp>
        </p:grpSp>
        <p:sp>
          <p:nvSpPr>
            <p:cNvPr id="58" name="AutoShape 18">
              <a:extLst>
                <a:ext uri="{FF2B5EF4-FFF2-40B4-BE49-F238E27FC236}">
                  <a16:creationId xmlns:a16="http://schemas.microsoft.com/office/drawing/2014/main" id="{E9408442-2567-6507-FC6A-579DAC0E34D6}"/>
                </a:ext>
              </a:extLst>
            </p:cNvPr>
            <p:cNvSpPr/>
            <p:nvPr/>
          </p:nvSpPr>
          <p:spPr>
            <a:xfrm>
              <a:off x="8610600" y="2895603"/>
              <a:ext cx="0" cy="6934200"/>
            </a:xfrm>
            <a:prstGeom prst="line">
              <a:avLst/>
            </a:prstGeom>
            <a:ln w="9525" cap="flat">
              <a:solidFill>
                <a:srgbClr val="5E61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ore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2361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5AA97-7BF4-3867-0F02-D577E66B5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BA0BB0E-391A-76EB-60BF-4CA173FA19CB}"/>
              </a:ext>
            </a:extLst>
          </p:cNvPr>
          <p:cNvGrpSpPr/>
          <p:nvPr/>
        </p:nvGrpSpPr>
        <p:grpSpPr>
          <a:xfrm>
            <a:off x="0" y="10144057"/>
            <a:ext cx="18288000" cy="157327"/>
            <a:chOff x="0" y="0"/>
            <a:chExt cx="4816593" cy="4143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B8E7CEC-BFC2-ACAB-88A5-1A7EABB80354}"/>
                </a:ext>
              </a:extLst>
            </p:cNvPr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DA1ED70-C939-0F3B-2C05-278D0C2C4E09}"/>
                </a:ext>
              </a:extLst>
            </p:cNvPr>
            <p:cNvSpPr txBox="1"/>
            <p:nvPr/>
          </p:nvSpPr>
          <p:spPr>
            <a:xfrm>
              <a:off x="0" y="-38100"/>
              <a:ext cx="4816593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CFE91FA-A64B-DAB9-32B2-217EECF4FF83}"/>
              </a:ext>
            </a:extLst>
          </p:cNvPr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49499DE-FD41-0B2F-F989-7A0205767407}"/>
                </a:ext>
              </a:extLst>
            </p:cNvPr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C0C2070-6778-7A9D-FFD8-2B16FD4E5C70}"/>
                </a:ext>
              </a:extLst>
            </p:cNvPr>
            <p:cNvSpPr txBox="1"/>
            <p:nvPr/>
          </p:nvSpPr>
          <p:spPr>
            <a:xfrm>
              <a:off x="0" y="-38100"/>
              <a:ext cx="2448435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C4966F19-13CA-5CC1-BEDC-B15FC3489534}"/>
              </a:ext>
            </a:extLst>
          </p:cNvPr>
          <p:cNvSpPr/>
          <p:nvPr/>
        </p:nvSpPr>
        <p:spPr>
          <a:xfrm rot="-5400000">
            <a:off x="17559576" y="395641"/>
            <a:ext cx="71874" cy="319441"/>
          </a:xfrm>
          <a:custGeom>
            <a:avLst/>
            <a:gdLst/>
            <a:ahLst/>
            <a:cxnLst/>
            <a:rect l="l" t="t" r="r" b="b"/>
            <a:pathLst>
              <a:path w="71874" h="319441">
                <a:moveTo>
                  <a:pt x="0" y="0"/>
                </a:moveTo>
                <a:lnTo>
                  <a:pt x="71874" y="0"/>
                </a:lnTo>
                <a:lnTo>
                  <a:pt x="71874" y="319441"/>
                </a:lnTo>
                <a:lnTo>
                  <a:pt x="0" y="319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D0852836-2E02-9A05-079F-8B2B21C03C9F}"/>
              </a:ext>
            </a:extLst>
          </p:cNvPr>
          <p:cNvSpPr/>
          <p:nvPr/>
        </p:nvSpPr>
        <p:spPr>
          <a:xfrm>
            <a:off x="789526" y="2651798"/>
            <a:ext cx="16708947" cy="0"/>
          </a:xfrm>
          <a:prstGeom prst="line">
            <a:avLst/>
          </a:prstGeom>
          <a:ln w="9525" cap="flat">
            <a:solidFill>
              <a:srgbClr val="5E61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A19EAC75-CE62-C911-C2EC-C7CD6D7C45E6}"/>
              </a:ext>
            </a:extLst>
          </p:cNvPr>
          <p:cNvGrpSpPr/>
          <p:nvPr/>
        </p:nvGrpSpPr>
        <p:grpSpPr>
          <a:xfrm>
            <a:off x="8214372" y="3332984"/>
            <a:ext cx="8663708" cy="5504373"/>
            <a:chOff x="0" y="0"/>
            <a:chExt cx="1598617" cy="1266362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80238321-AB25-1DC9-FA45-EC934E6FBF3E}"/>
                </a:ext>
              </a:extLst>
            </p:cNvPr>
            <p:cNvSpPr/>
            <p:nvPr/>
          </p:nvSpPr>
          <p:spPr>
            <a:xfrm>
              <a:off x="0" y="0"/>
              <a:ext cx="1598617" cy="1266362"/>
            </a:xfrm>
            <a:custGeom>
              <a:avLst/>
              <a:gdLst/>
              <a:ahLst/>
              <a:cxnLst/>
              <a:rect l="l" t="t" r="r" b="b"/>
              <a:pathLst>
                <a:path w="1598617" h="1266362">
                  <a:moveTo>
                    <a:pt x="22284" y="0"/>
                  </a:moveTo>
                  <a:lnTo>
                    <a:pt x="1576333" y="0"/>
                  </a:lnTo>
                  <a:cubicBezTo>
                    <a:pt x="1582243" y="0"/>
                    <a:pt x="1587911" y="2348"/>
                    <a:pt x="1592090" y="6527"/>
                  </a:cubicBezTo>
                  <a:cubicBezTo>
                    <a:pt x="1596269" y="10706"/>
                    <a:pt x="1598617" y="16374"/>
                    <a:pt x="1598617" y="22284"/>
                  </a:cubicBezTo>
                  <a:lnTo>
                    <a:pt x="1598617" y="1244078"/>
                  </a:lnTo>
                  <a:cubicBezTo>
                    <a:pt x="1598617" y="1249988"/>
                    <a:pt x="1596269" y="1255656"/>
                    <a:pt x="1592090" y="1259835"/>
                  </a:cubicBezTo>
                  <a:cubicBezTo>
                    <a:pt x="1587911" y="1264014"/>
                    <a:pt x="1582243" y="1266362"/>
                    <a:pt x="1576333" y="1266362"/>
                  </a:cubicBezTo>
                  <a:lnTo>
                    <a:pt x="22284" y="1266362"/>
                  </a:lnTo>
                  <a:cubicBezTo>
                    <a:pt x="16374" y="1266362"/>
                    <a:pt x="10706" y="1264014"/>
                    <a:pt x="6527" y="1259835"/>
                  </a:cubicBezTo>
                  <a:cubicBezTo>
                    <a:pt x="2348" y="1255656"/>
                    <a:pt x="0" y="1249988"/>
                    <a:pt x="0" y="1244078"/>
                  </a:cubicBezTo>
                  <a:lnTo>
                    <a:pt x="0" y="22284"/>
                  </a:lnTo>
                  <a:cubicBezTo>
                    <a:pt x="0" y="16374"/>
                    <a:pt x="2348" y="10706"/>
                    <a:pt x="6527" y="6527"/>
                  </a:cubicBezTo>
                  <a:cubicBezTo>
                    <a:pt x="10706" y="2348"/>
                    <a:pt x="16374" y="0"/>
                    <a:pt x="22284" y="0"/>
                  </a:cubicBezTo>
                  <a:close/>
                </a:path>
              </a:pathLst>
            </a:custGeom>
            <a:solidFill>
              <a:srgbClr val="E5E8EA"/>
            </a:solidFill>
            <a:ln w="38100" cap="sq">
              <a:solidFill>
                <a:srgbClr val="6A787F"/>
              </a:solidFill>
              <a:prstDash val="solid"/>
              <a:miter/>
            </a:ln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206805BE-EFE7-AB52-61D5-7DA8CBCD872A}"/>
                </a:ext>
              </a:extLst>
            </p:cNvPr>
            <p:cNvSpPr txBox="1"/>
            <p:nvPr/>
          </p:nvSpPr>
          <p:spPr>
            <a:xfrm>
              <a:off x="0" y="-38100"/>
              <a:ext cx="1598617" cy="1304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3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2D003F8-B153-ACAF-B8AC-A4F7DA282B5B}"/>
              </a:ext>
            </a:extLst>
          </p:cNvPr>
          <p:cNvGrpSpPr/>
          <p:nvPr/>
        </p:nvGrpSpPr>
        <p:grpSpPr>
          <a:xfrm>
            <a:off x="1409921" y="3332984"/>
            <a:ext cx="5089149" cy="5504373"/>
            <a:chOff x="0" y="0"/>
            <a:chExt cx="1598617" cy="1266362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68C55AE9-5F2D-4C75-ED02-C1D6AFCCC4EA}"/>
                </a:ext>
              </a:extLst>
            </p:cNvPr>
            <p:cNvSpPr/>
            <p:nvPr/>
          </p:nvSpPr>
          <p:spPr>
            <a:xfrm>
              <a:off x="0" y="0"/>
              <a:ext cx="1598617" cy="1266362"/>
            </a:xfrm>
            <a:custGeom>
              <a:avLst/>
              <a:gdLst/>
              <a:ahLst/>
              <a:cxnLst/>
              <a:rect l="l" t="t" r="r" b="b"/>
              <a:pathLst>
                <a:path w="1598617" h="1266362">
                  <a:moveTo>
                    <a:pt x="22284" y="0"/>
                  </a:moveTo>
                  <a:lnTo>
                    <a:pt x="1576333" y="0"/>
                  </a:lnTo>
                  <a:cubicBezTo>
                    <a:pt x="1582243" y="0"/>
                    <a:pt x="1587911" y="2348"/>
                    <a:pt x="1592090" y="6527"/>
                  </a:cubicBezTo>
                  <a:cubicBezTo>
                    <a:pt x="1596269" y="10706"/>
                    <a:pt x="1598617" y="16374"/>
                    <a:pt x="1598617" y="22284"/>
                  </a:cubicBezTo>
                  <a:lnTo>
                    <a:pt x="1598617" y="1244078"/>
                  </a:lnTo>
                  <a:cubicBezTo>
                    <a:pt x="1598617" y="1249988"/>
                    <a:pt x="1596269" y="1255656"/>
                    <a:pt x="1592090" y="1259835"/>
                  </a:cubicBezTo>
                  <a:cubicBezTo>
                    <a:pt x="1587911" y="1264014"/>
                    <a:pt x="1582243" y="1266362"/>
                    <a:pt x="1576333" y="1266362"/>
                  </a:cubicBezTo>
                  <a:lnTo>
                    <a:pt x="22284" y="1266362"/>
                  </a:lnTo>
                  <a:cubicBezTo>
                    <a:pt x="16374" y="1266362"/>
                    <a:pt x="10706" y="1264014"/>
                    <a:pt x="6527" y="1259835"/>
                  </a:cubicBezTo>
                  <a:cubicBezTo>
                    <a:pt x="2348" y="1255656"/>
                    <a:pt x="0" y="1249988"/>
                    <a:pt x="0" y="1244078"/>
                  </a:cubicBezTo>
                  <a:lnTo>
                    <a:pt x="0" y="22284"/>
                  </a:lnTo>
                  <a:cubicBezTo>
                    <a:pt x="0" y="16374"/>
                    <a:pt x="2348" y="10706"/>
                    <a:pt x="6527" y="6527"/>
                  </a:cubicBezTo>
                  <a:cubicBezTo>
                    <a:pt x="10706" y="2348"/>
                    <a:pt x="16374" y="0"/>
                    <a:pt x="22284" y="0"/>
                  </a:cubicBezTo>
                  <a:close/>
                </a:path>
              </a:pathLst>
            </a:custGeom>
            <a:solidFill>
              <a:srgbClr val="E5E8EA"/>
            </a:solidFill>
            <a:ln w="38100" cap="sq">
              <a:solidFill>
                <a:srgbClr val="6A787F"/>
              </a:solidFill>
              <a:prstDash val="solid"/>
              <a:miter/>
            </a:ln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EB5056A5-439D-440D-8660-83A4E902E709}"/>
                </a:ext>
              </a:extLst>
            </p:cNvPr>
            <p:cNvSpPr txBox="1"/>
            <p:nvPr/>
          </p:nvSpPr>
          <p:spPr>
            <a:xfrm>
              <a:off x="0" y="-38100"/>
              <a:ext cx="1598617" cy="1304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3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AutoShape 36">
            <a:extLst>
              <a:ext uri="{FF2B5EF4-FFF2-40B4-BE49-F238E27FC236}">
                <a16:creationId xmlns:a16="http://schemas.microsoft.com/office/drawing/2014/main" id="{22BAB2E0-C5CD-BB50-A76D-7F921A505D26}"/>
              </a:ext>
            </a:extLst>
          </p:cNvPr>
          <p:cNvSpPr/>
          <p:nvPr/>
        </p:nvSpPr>
        <p:spPr>
          <a:xfrm flipV="1">
            <a:off x="4893722" y="5222392"/>
            <a:ext cx="0" cy="1195670"/>
          </a:xfrm>
          <a:prstGeom prst="line">
            <a:avLst/>
          </a:prstGeom>
          <a:ln w="19050" cap="flat">
            <a:solidFill>
              <a:srgbClr val="D9D9D9">
                <a:alpha val="2588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58134214-4141-3798-1858-058EDF852251}"/>
              </a:ext>
            </a:extLst>
          </p:cNvPr>
          <p:cNvSpPr/>
          <p:nvPr/>
        </p:nvSpPr>
        <p:spPr>
          <a:xfrm>
            <a:off x="6965802" y="5613148"/>
            <a:ext cx="781837" cy="712449"/>
          </a:xfrm>
          <a:custGeom>
            <a:avLst/>
            <a:gdLst/>
            <a:ahLst/>
            <a:cxnLst/>
            <a:rect l="l" t="t" r="r" b="b"/>
            <a:pathLst>
              <a:path w="781837" h="712449">
                <a:moveTo>
                  <a:pt x="0" y="0"/>
                </a:moveTo>
                <a:lnTo>
                  <a:pt x="781838" y="0"/>
                </a:lnTo>
                <a:lnTo>
                  <a:pt x="781838" y="712449"/>
                </a:lnTo>
                <a:lnTo>
                  <a:pt x="0" y="7124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A6070F69-522B-C110-4B4B-D6DE79230A57}"/>
              </a:ext>
            </a:extLst>
          </p:cNvPr>
          <p:cNvGrpSpPr/>
          <p:nvPr/>
        </p:nvGrpSpPr>
        <p:grpSpPr>
          <a:xfrm>
            <a:off x="11125200" y="4196947"/>
            <a:ext cx="4960069" cy="1541453"/>
            <a:chOff x="1428971" y="7311754"/>
            <a:chExt cx="4960069" cy="1541453"/>
          </a:xfrm>
        </p:grpSpPr>
        <p:sp>
          <p:nvSpPr>
            <p:cNvPr id="49" name="TextBox 19">
              <a:extLst>
                <a:ext uri="{FF2B5EF4-FFF2-40B4-BE49-F238E27FC236}">
                  <a16:creationId xmlns:a16="http://schemas.microsoft.com/office/drawing/2014/main" id="{DD203AB6-EE9F-6AEA-07B0-FB7B7A40DE36}"/>
                </a:ext>
              </a:extLst>
            </p:cNvPr>
            <p:cNvSpPr txBox="1"/>
            <p:nvPr/>
          </p:nvSpPr>
          <p:spPr>
            <a:xfrm>
              <a:off x="1760308" y="7311754"/>
              <a:ext cx="4297394" cy="582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0"/>
                </a:lnSpc>
              </a:pPr>
              <a:r>
                <a:rPr lang="ko-KR" altLang="en-US" sz="3600" b="1" spc="-170" dirty="0">
                  <a:solidFill>
                    <a:srgbClr val="222222"/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사전 예방 </a:t>
              </a:r>
              <a:r>
                <a:rPr lang="ko-KR" altLang="en-US" sz="3600" spc="-170" dirty="0">
                  <a:solidFill>
                    <a:srgbClr val="222222"/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강화</a:t>
              </a:r>
              <a:endParaRPr lang="en-US" sz="3600" spc="-170" dirty="0">
                <a:solidFill>
                  <a:srgbClr val="222222"/>
                </a:solidFill>
                <a:latin typeface="NanumGothic"/>
                <a:ea typeface="NanumGothic"/>
                <a:cs typeface="NanumGothic"/>
                <a:sym typeface="Nanum Gothic"/>
              </a:endParaRPr>
            </a:p>
          </p:txBody>
        </p:sp>
        <p:sp>
          <p:nvSpPr>
            <p:cNvPr id="50" name="TextBox 22">
              <a:extLst>
                <a:ext uri="{FF2B5EF4-FFF2-40B4-BE49-F238E27FC236}">
                  <a16:creationId xmlns:a16="http://schemas.microsoft.com/office/drawing/2014/main" id="{AC516610-95DF-CF20-04CA-155F24016370}"/>
                </a:ext>
              </a:extLst>
            </p:cNvPr>
            <p:cNvSpPr txBox="1"/>
            <p:nvPr/>
          </p:nvSpPr>
          <p:spPr>
            <a:xfrm>
              <a:off x="1428971" y="8061195"/>
              <a:ext cx="4960069" cy="7920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9"/>
                </a:lnSpc>
              </a:pPr>
              <a:r>
                <a:rPr lang="ko-KR" altLang="en-US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경도인지장애 단계에서 </a:t>
              </a:r>
              <a:r>
                <a:rPr lang="ko-KR" altLang="en-US" sz="2400" b="1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조기 발견 </a:t>
              </a:r>
              <a:r>
                <a:rPr lang="ko-KR" altLang="en-US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위해</a:t>
              </a:r>
              <a:endParaRPr lang="en-US" altLang="ko-KR" sz="2400" spc="-119" dirty="0">
                <a:solidFill>
                  <a:srgbClr val="222222">
                    <a:alpha val="61961"/>
                  </a:srgbClr>
                </a:solidFill>
                <a:latin typeface="NanumGothic"/>
                <a:ea typeface="NanumGothic"/>
                <a:cs typeface="NanumGothic"/>
                <a:sym typeface="Nanum Gothic"/>
              </a:endParaRPr>
            </a:p>
            <a:p>
              <a:pPr algn="ctr">
                <a:lnSpc>
                  <a:spcPts val="3219"/>
                </a:lnSpc>
              </a:pPr>
              <a:r>
                <a:rPr lang="ko-KR" altLang="en-US" sz="2400" b="1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인지검사</a:t>
              </a:r>
              <a:r>
                <a:rPr lang="ko-KR" altLang="en-US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 및 </a:t>
              </a:r>
              <a:r>
                <a:rPr lang="ko-KR" altLang="en-US" sz="2400" b="1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예방 프로그램 </a:t>
              </a:r>
              <a:r>
                <a:rPr lang="ko-KR" altLang="en-US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확대</a:t>
              </a:r>
              <a:endParaRPr lang="en-US" altLang="ko-KR" sz="2400" spc="-119" dirty="0">
                <a:solidFill>
                  <a:srgbClr val="222222">
                    <a:alpha val="61961"/>
                  </a:srgbClr>
                </a:solidFill>
                <a:latin typeface="NanumGothic"/>
                <a:ea typeface="NanumGothic"/>
                <a:cs typeface="NanumGothic"/>
                <a:sym typeface="Nanum Gothic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EED4781-454F-3F25-F096-E53AD7E86AD9}"/>
              </a:ext>
            </a:extLst>
          </p:cNvPr>
          <p:cNvGrpSpPr/>
          <p:nvPr/>
        </p:nvGrpSpPr>
        <p:grpSpPr>
          <a:xfrm>
            <a:off x="11125200" y="6425086"/>
            <a:ext cx="4960069" cy="1541453"/>
            <a:chOff x="6663966" y="7311754"/>
            <a:chExt cx="4960069" cy="1541453"/>
          </a:xfrm>
        </p:grpSpPr>
        <p:sp>
          <p:nvSpPr>
            <p:cNvPr id="52" name="TextBox 20">
              <a:extLst>
                <a:ext uri="{FF2B5EF4-FFF2-40B4-BE49-F238E27FC236}">
                  <a16:creationId xmlns:a16="http://schemas.microsoft.com/office/drawing/2014/main" id="{0A2543E9-D566-3108-C8F0-6DB97566E34B}"/>
                </a:ext>
              </a:extLst>
            </p:cNvPr>
            <p:cNvSpPr txBox="1"/>
            <p:nvPr/>
          </p:nvSpPr>
          <p:spPr>
            <a:xfrm>
              <a:off x="6995303" y="7311754"/>
              <a:ext cx="4297394" cy="582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0"/>
                </a:lnSpc>
              </a:pPr>
              <a:r>
                <a:rPr lang="ko-KR" altLang="en-US" sz="3600" b="1" spc="-170" dirty="0">
                  <a:solidFill>
                    <a:srgbClr val="222222"/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사후 관리 </a:t>
              </a:r>
              <a:r>
                <a:rPr lang="ko-KR" altLang="en-US" sz="3600" spc="-170" dirty="0">
                  <a:solidFill>
                    <a:srgbClr val="222222"/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체계 확충</a:t>
              </a:r>
              <a:endParaRPr lang="en-US" sz="3600" spc="-170" dirty="0">
                <a:solidFill>
                  <a:srgbClr val="222222"/>
                </a:solidFill>
                <a:latin typeface="NanumGothic"/>
                <a:ea typeface="NanumGothic"/>
                <a:cs typeface="NanumGothic"/>
                <a:sym typeface="Nanum Gothic"/>
              </a:endParaRPr>
            </a:p>
          </p:txBody>
        </p:sp>
        <p:sp>
          <p:nvSpPr>
            <p:cNvPr id="53" name="TextBox 23">
              <a:extLst>
                <a:ext uri="{FF2B5EF4-FFF2-40B4-BE49-F238E27FC236}">
                  <a16:creationId xmlns:a16="http://schemas.microsoft.com/office/drawing/2014/main" id="{AF3FB778-B647-C0FC-CC15-C8B51F7F1E5A}"/>
                </a:ext>
              </a:extLst>
            </p:cNvPr>
            <p:cNvSpPr txBox="1"/>
            <p:nvPr/>
          </p:nvSpPr>
          <p:spPr>
            <a:xfrm>
              <a:off x="6663966" y="8061195"/>
              <a:ext cx="4960069" cy="7920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9"/>
                </a:lnSpc>
              </a:pPr>
              <a:r>
                <a:rPr lang="ko-KR" altLang="en-US" sz="2400" b="1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폐교를 실버타운으로 </a:t>
              </a:r>
              <a:r>
                <a:rPr lang="ko-KR" altLang="en-US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리모델링하는 등</a:t>
              </a:r>
              <a:endParaRPr lang="en-US" altLang="ko-KR" sz="2400" spc="-119" dirty="0">
                <a:solidFill>
                  <a:srgbClr val="222222">
                    <a:alpha val="61961"/>
                  </a:srgbClr>
                </a:solidFill>
                <a:latin typeface="NanumGothic"/>
                <a:ea typeface="NanumGothic"/>
                <a:cs typeface="NanumGothic"/>
                <a:sym typeface="Nanum Gothic"/>
              </a:endParaRPr>
            </a:p>
            <a:p>
              <a:pPr algn="ctr">
                <a:lnSpc>
                  <a:spcPts val="3219"/>
                </a:lnSpc>
              </a:pPr>
              <a:r>
                <a:rPr lang="ko-KR" altLang="en-US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치매 및 고령친화 </a:t>
              </a:r>
              <a:r>
                <a:rPr lang="ko-KR" altLang="en-US" sz="2400" b="1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돌봄 인프라 강화</a:t>
              </a:r>
              <a:endParaRPr lang="en-US" sz="2400" b="1" spc="-119" dirty="0">
                <a:solidFill>
                  <a:srgbClr val="222222">
                    <a:alpha val="61961"/>
                  </a:srgbClr>
                </a:solidFill>
                <a:latin typeface="NanumGothic"/>
                <a:ea typeface="NanumGothic"/>
                <a:cs typeface="NanumGothic"/>
                <a:sym typeface="Nanum Gothic"/>
              </a:endParaRPr>
            </a:p>
          </p:txBody>
        </p:sp>
      </p:grpSp>
      <p:sp>
        <p:nvSpPr>
          <p:cNvPr id="54" name="TextBox 11">
            <a:extLst>
              <a:ext uri="{FF2B5EF4-FFF2-40B4-BE49-F238E27FC236}">
                <a16:creationId xmlns:a16="http://schemas.microsoft.com/office/drawing/2014/main" id="{B59A106E-8DE8-8ECB-B55B-E4B80A902F0F}"/>
              </a:ext>
            </a:extLst>
          </p:cNvPr>
          <p:cNvSpPr txBox="1"/>
          <p:nvPr/>
        </p:nvSpPr>
        <p:spPr>
          <a:xfrm>
            <a:off x="9318171" y="5308929"/>
            <a:ext cx="1746894" cy="574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ko-KR" altLang="en-US" sz="100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🧠</a:t>
            </a:r>
            <a:endParaRPr lang="en-US" sz="100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sp>
        <p:nvSpPr>
          <p:cNvPr id="55" name="TextBox 11">
            <a:extLst>
              <a:ext uri="{FF2B5EF4-FFF2-40B4-BE49-F238E27FC236}">
                <a16:creationId xmlns:a16="http://schemas.microsoft.com/office/drawing/2014/main" id="{7A37467C-F4F9-C4CD-FA20-A932E27ACAC1}"/>
              </a:ext>
            </a:extLst>
          </p:cNvPr>
          <p:cNvSpPr txBox="1"/>
          <p:nvPr/>
        </p:nvSpPr>
        <p:spPr>
          <a:xfrm>
            <a:off x="8937171" y="7588365"/>
            <a:ext cx="2127894" cy="574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ko-KR" altLang="en-US" sz="100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 🏡</a:t>
            </a:r>
            <a:endParaRPr lang="en-US" sz="100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sp>
        <p:nvSpPr>
          <p:cNvPr id="56" name="TextBox 10">
            <a:extLst>
              <a:ext uri="{FF2B5EF4-FFF2-40B4-BE49-F238E27FC236}">
                <a16:creationId xmlns:a16="http://schemas.microsoft.com/office/drawing/2014/main" id="{0977EEF0-91A6-C43A-A4A6-38E29B01B9CD}"/>
              </a:ext>
            </a:extLst>
          </p:cNvPr>
          <p:cNvSpPr txBox="1"/>
          <p:nvPr/>
        </p:nvSpPr>
        <p:spPr>
          <a:xfrm rot="-18144">
            <a:off x="1493048" y="559824"/>
            <a:ext cx="10012374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195"/>
              </a:lnSpc>
            </a:pPr>
            <a:r>
              <a:rPr lang="ko-KR" altLang="en-US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시사점</a:t>
            </a:r>
            <a:endParaRPr lang="en-US" sz="5600" spc="-309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57" name="TextBox 10">
            <a:extLst>
              <a:ext uri="{FF2B5EF4-FFF2-40B4-BE49-F238E27FC236}">
                <a16:creationId xmlns:a16="http://schemas.microsoft.com/office/drawing/2014/main" id="{CA876C9F-5F51-3BED-0BC5-6E6B77EBD59C}"/>
              </a:ext>
            </a:extLst>
          </p:cNvPr>
          <p:cNvSpPr txBox="1"/>
          <p:nvPr/>
        </p:nvSpPr>
        <p:spPr>
          <a:xfrm>
            <a:off x="726970" y="708723"/>
            <a:ext cx="1042830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</a:t>
            </a:r>
            <a:r>
              <a:rPr lang="en-US" altLang="ko-KR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4</a:t>
            </a:r>
            <a:endParaRPr lang="en-US" sz="4000" spc="-57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58" name="TextBox 11">
            <a:extLst>
              <a:ext uri="{FF2B5EF4-FFF2-40B4-BE49-F238E27FC236}">
                <a16:creationId xmlns:a16="http://schemas.microsoft.com/office/drawing/2014/main" id="{4DACCA9F-18FC-F775-D60B-E7AF9795FC00}"/>
              </a:ext>
            </a:extLst>
          </p:cNvPr>
          <p:cNvSpPr txBox="1"/>
          <p:nvPr/>
        </p:nvSpPr>
        <p:spPr>
          <a:xfrm>
            <a:off x="1567142" y="1559508"/>
            <a:ext cx="6129058" cy="307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[C-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2</a:t>
            </a:r>
            <a:r>
              <a:rPr lang="en-US" altLang="ko-Kore-KR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]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 치매 관련</a:t>
            </a:r>
            <a:endParaRPr lang="en-US" sz="28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7461AEA-B3C7-89E8-320C-DF3469B0C67E}"/>
              </a:ext>
            </a:extLst>
          </p:cNvPr>
          <p:cNvSpPr txBox="1"/>
          <p:nvPr/>
        </p:nvSpPr>
        <p:spPr>
          <a:xfrm>
            <a:off x="1902597" y="5931297"/>
            <a:ext cx="40938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600" b="1" spc="-170" dirty="0">
                <a:solidFill>
                  <a:srgbClr val="222222"/>
                </a:solidFill>
                <a:latin typeface="NanumGothic"/>
                <a:ea typeface="NanumGothic"/>
                <a:cs typeface="NanumGothic"/>
                <a:sym typeface="Nanum Gothic"/>
              </a:rPr>
              <a:t>분석 결과</a:t>
            </a:r>
            <a:endParaRPr lang="en-US" altLang="ko-KR" sz="3600" b="1" spc="-170" dirty="0">
              <a:solidFill>
                <a:srgbClr val="222222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/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</a:endParaRPr>
          </a:p>
          <a:p>
            <a:pPr algn="ctr">
              <a:buNone/>
            </a:pP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치매 의료비는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</a:endParaRPr>
          </a:p>
          <a:p>
            <a:pPr algn="ctr">
              <a:buNone/>
            </a:pP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구조적 상승 추세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이므로</a:t>
            </a:r>
            <a:b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</a:b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장기적인 대응 전략 마련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이</a:t>
            </a:r>
            <a:endParaRPr lang="en-US" altLang="ko-KR" sz="2400" b="1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</a:endParaRPr>
          </a:p>
          <a:p>
            <a:pPr algn="ctr">
              <a:buNone/>
            </a:pP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시급함</a:t>
            </a:r>
          </a:p>
        </p:txBody>
      </p:sp>
      <p:sp>
        <p:nvSpPr>
          <p:cNvPr id="60" name="TextBox 11">
            <a:extLst>
              <a:ext uri="{FF2B5EF4-FFF2-40B4-BE49-F238E27FC236}">
                <a16:creationId xmlns:a16="http://schemas.microsoft.com/office/drawing/2014/main" id="{C2B57DE2-B9D1-ED65-F969-7F6883A2B86C}"/>
              </a:ext>
            </a:extLst>
          </p:cNvPr>
          <p:cNvSpPr txBox="1"/>
          <p:nvPr/>
        </p:nvSpPr>
        <p:spPr>
          <a:xfrm>
            <a:off x="3076056" y="5331368"/>
            <a:ext cx="1746894" cy="574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ko-KR" altLang="en-US" sz="100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📊</a:t>
            </a:r>
            <a:endParaRPr lang="en-US" sz="100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</p:spTree>
    <p:extLst>
      <p:ext uri="{BB962C8B-B14F-4D97-AF65-F5344CB8AC3E}">
        <p14:creationId xmlns:p14="http://schemas.microsoft.com/office/powerpoint/2010/main" val="3421956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75612-C57B-F0C1-1A42-B6E9A85A4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47A0638-E8C1-DF2C-607A-5E2C2560FB79}"/>
              </a:ext>
            </a:extLst>
          </p:cNvPr>
          <p:cNvGrpSpPr/>
          <p:nvPr/>
        </p:nvGrpSpPr>
        <p:grpSpPr>
          <a:xfrm>
            <a:off x="0" y="10144057"/>
            <a:ext cx="18288000" cy="157327"/>
            <a:chOff x="0" y="0"/>
            <a:chExt cx="4816593" cy="4143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F521DEA-CDD0-A5B4-6ACA-2896B4783DEB}"/>
                </a:ext>
              </a:extLst>
            </p:cNvPr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39F58D-F572-7CFC-7DAC-F31515E94A26}"/>
                </a:ext>
              </a:extLst>
            </p:cNvPr>
            <p:cNvSpPr txBox="1"/>
            <p:nvPr/>
          </p:nvSpPr>
          <p:spPr>
            <a:xfrm>
              <a:off x="0" y="-38100"/>
              <a:ext cx="4816593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C183DFD-E82B-38DD-60A4-1220824E2D2E}"/>
              </a:ext>
            </a:extLst>
          </p:cNvPr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12BE2F6-7BA5-5DE6-E1F9-1F8F1CEA44A1}"/>
                </a:ext>
              </a:extLst>
            </p:cNvPr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0719E83-5315-68A8-9C91-D43E9D624378}"/>
                </a:ext>
              </a:extLst>
            </p:cNvPr>
            <p:cNvSpPr txBox="1"/>
            <p:nvPr/>
          </p:nvSpPr>
          <p:spPr>
            <a:xfrm>
              <a:off x="0" y="-38100"/>
              <a:ext cx="2448435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B7723885-3CCE-4EF4-3B3F-25E663F0A5FC}"/>
              </a:ext>
            </a:extLst>
          </p:cNvPr>
          <p:cNvSpPr/>
          <p:nvPr/>
        </p:nvSpPr>
        <p:spPr>
          <a:xfrm rot="-5400000">
            <a:off x="17559576" y="395641"/>
            <a:ext cx="71874" cy="319441"/>
          </a:xfrm>
          <a:custGeom>
            <a:avLst/>
            <a:gdLst/>
            <a:ahLst/>
            <a:cxnLst/>
            <a:rect l="l" t="t" r="r" b="b"/>
            <a:pathLst>
              <a:path w="71874" h="319441">
                <a:moveTo>
                  <a:pt x="0" y="0"/>
                </a:moveTo>
                <a:lnTo>
                  <a:pt x="71874" y="0"/>
                </a:lnTo>
                <a:lnTo>
                  <a:pt x="71874" y="319441"/>
                </a:lnTo>
                <a:lnTo>
                  <a:pt x="0" y="319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926C7E87-B774-B283-5D1A-4B6AF4B486BD}"/>
              </a:ext>
            </a:extLst>
          </p:cNvPr>
          <p:cNvSpPr/>
          <p:nvPr/>
        </p:nvSpPr>
        <p:spPr>
          <a:xfrm>
            <a:off x="789526" y="2651798"/>
            <a:ext cx="16708947" cy="0"/>
          </a:xfrm>
          <a:prstGeom prst="line">
            <a:avLst/>
          </a:prstGeom>
          <a:ln w="9525" cap="flat">
            <a:solidFill>
              <a:srgbClr val="5E61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D6367A4-AA05-5A4B-3918-19521200A4F3}"/>
              </a:ext>
            </a:extLst>
          </p:cNvPr>
          <p:cNvGrpSpPr/>
          <p:nvPr/>
        </p:nvGrpSpPr>
        <p:grpSpPr>
          <a:xfrm>
            <a:off x="1253828" y="6293087"/>
            <a:ext cx="4960069" cy="1539850"/>
            <a:chOff x="1428971" y="7311754"/>
            <a:chExt cx="4960069" cy="1539850"/>
          </a:xfrm>
        </p:grpSpPr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3691214-9D74-5D8A-C40B-7D4C19330C46}"/>
                </a:ext>
              </a:extLst>
            </p:cNvPr>
            <p:cNvSpPr txBox="1"/>
            <p:nvPr/>
          </p:nvSpPr>
          <p:spPr>
            <a:xfrm>
              <a:off x="1760308" y="7311754"/>
              <a:ext cx="4297394" cy="582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0"/>
                </a:lnSpc>
              </a:pPr>
              <a:r>
                <a:rPr lang="ko-KR" altLang="en-US" sz="3600" b="1" spc="-170" dirty="0">
                  <a:solidFill>
                    <a:srgbClr val="222222"/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비급여</a:t>
              </a:r>
              <a:r>
                <a:rPr lang="ko-KR" altLang="en-US" sz="3600" spc="-170" dirty="0">
                  <a:solidFill>
                    <a:srgbClr val="222222"/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 정보 부재</a:t>
              </a:r>
              <a:endParaRPr lang="en-US" sz="3600" spc="-170" dirty="0">
                <a:solidFill>
                  <a:srgbClr val="222222"/>
                </a:solidFill>
                <a:latin typeface="NanumGothic"/>
                <a:ea typeface="NanumGothic"/>
                <a:cs typeface="NanumGothic"/>
                <a:sym typeface="Nanum Gothic"/>
              </a:endParaRP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F23BE27A-3D51-63C5-FC9C-1F54CE3E5FAB}"/>
                </a:ext>
              </a:extLst>
            </p:cNvPr>
            <p:cNvSpPr txBox="1"/>
            <p:nvPr/>
          </p:nvSpPr>
          <p:spPr>
            <a:xfrm>
              <a:off x="1428971" y="8061195"/>
              <a:ext cx="4960069" cy="7904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9"/>
                </a:lnSpc>
              </a:pPr>
              <a:r>
                <a:rPr lang="ko-KR" altLang="en-US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의료비는 급여 </a:t>
              </a:r>
              <a:r>
                <a:rPr lang="en-US" altLang="ko-KR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+</a:t>
              </a:r>
              <a:r>
                <a:rPr lang="ko-KR" altLang="en-US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 비급여로 구성되나</a:t>
              </a:r>
              <a:r>
                <a:rPr lang="en-US" altLang="ko-KR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,</a:t>
              </a:r>
              <a:br>
                <a:rPr lang="en-US" altLang="ko-KR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</a:br>
              <a:r>
                <a:rPr lang="ko-KR" altLang="en-US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비급여 데이터는 </a:t>
              </a:r>
              <a:r>
                <a:rPr lang="ko-KR" altLang="en-US" sz="2400" b="1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비공개</a:t>
              </a:r>
              <a:endParaRPr lang="en-US" sz="2400" b="1" spc="-119" dirty="0">
                <a:solidFill>
                  <a:srgbClr val="222222">
                    <a:alpha val="61961"/>
                  </a:srgbClr>
                </a:solidFill>
                <a:latin typeface="NanumGothic"/>
                <a:ea typeface="NanumGothic"/>
                <a:cs typeface="NanumGothic"/>
                <a:sym typeface="Nanum Gothic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BFF837A-9DF7-AC7D-947F-B4A279CB4CBA}"/>
              </a:ext>
            </a:extLst>
          </p:cNvPr>
          <p:cNvGrpSpPr/>
          <p:nvPr/>
        </p:nvGrpSpPr>
        <p:grpSpPr>
          <a:xfrm>
            <a:off x="6608614" y="6293087"/>
            <a:ext cx="4960069" cy="1539850"/>
            <a:chOff x="6663966" y="7311754"/>
            <a:chExt cx="4960069" cy="1539850"/>
          </a:xfrm>
        </p:grpSpPr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BF34EDF5-5A01-103E-5F5B-80003203CD0A}"/>
                </a:ext>
              </a:extLst>
            </p:cNvPr>
            <p:cNvSpPr txBox="1"/>
            <p:nvPr/>
          </p:nvSpPr>
          <p:spPr>
            <a:xfrm>
              <a:off x="6995303" y="7311754"/>
              <a:ext cx="4297394" cy="582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0"/>
                </a:lnSpc>
              </a:pPr>
              <a:r>
                <a:rPr lang="ko-KR" altLang="en-US" sz="3600" b="1" spc="-170" dirty="0">
                  <a:solidFill>
                    <a:srgbClr val="222222"/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외생 변수 </a:t>
              </a:r>
              <a:r>
                <a:rPr lang="ko-KR" altLang="en-US" sz="3600" spc="-170" dirty="0" err="1">
                  <a:solidFill>
                    <a:srgbClr val="222222"/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미반영</a:t>
              </a:r>
              <a:endParaRPr lang="en-US" sz="3600" spc="-170" dirty="0">
                <a:solidFill>
                  <a:srgbClr val="222222"/>
                </a:solidFill>
                <a:latin typeface="NanumGothic"/>
                <a:ea typeface="NanumGothic"/>
                <a:cs typeface="NanumGothic"/>
                <a:sym typeface="Nanum Gothic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0B89B1E4-BFE8-F32A-372A-133FAD7C2960}"/>
                </a:ext>
              </a:extLst>
            </p:cNvPr>
            <p:cNvSpPr txBox="1"/>
            <p:nvPr/>
          </p:nvSpPr>
          <p:spPr>
            <a:xfrm>
              <a:off x="6663966" y="8061195"/>
              <a:ext cx="4960069" cy="7904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9"/>
                </a:lnSpc>
              </a:pPr>
              <a:r>
                <a:rPr lang="ko-KR" altLang="en-US" sz="2400" b="1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물가</a:t>
              </a:r>
              <a:r>
                <a:rPr lang="en-US" altLang="ko-KR" sz="2400" b="1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,</a:t>
              </a:r>
              <a:r>
                <a:rPr lang="ko-KR" altLang="en-US" sz="2400" b="1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 진료 수가</a:t>
              </a:r>
              <a:r>
                <a:rPr lang="en-US" altLang="ko-KR" sz="2400" b="1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,</a:t>
              </a:r>
              <a:r>
                <a:rPr lang="ko-KR" altLang="en-US" sz="2400" b="1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 정책 변화 </a:t>
              </a:r>
              <a:r>
                <a:rPr lang="ko-KR" altLang="en-US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등을</a:t>
              </a:r>
              <a:br>
                <a:rPr lang="en-US" altLang="ko-KR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</a:br>
              <a:r>
                <a:rPr lang="ko-KR" altLang="en-US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반영하지 못함</a:t>
              </a:r>
              <a:endParaRPr lang="en-US" sz="2400" spc="-119" dirty="0">
                <a:solidFill>
                  <a:srgbClr val="222222">
                    <a:alpha val="61961"/>
                  </a:srgbClr>
                </a:solidFill>
                <a:latin typeface="NanumGothic"/>
                <a:ea typeface="NanumGothic"/>
                <a:cs typeface="NanumGothic"/>
                <a:sym typeface="Nanum Gothic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CEE7CD7-05B5-A54A-4874-87F741C615B4}"/>
              </a:ext>
            </a:extLst>
          </p:cNvPr>
          <p:cNvGrpSpPr/>
          <p:nvPr/>
        </p:nvGrpSpPr>
        <p:grpSpPr>
          <a:xfrm>
            <a:off x="11963400" y="6293087"/>
            <a:ext cx="4960069" cy="1539850"/>
            <a:chOff x="11898960" y="7311754"/>
            <a:chExt cx="4960069" cy="1539850"/>
          </a:xfrm>
        </p:grpSpPr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85A9C43-0CFB-4527-3FFF-B218040721DF}"/>
                </a:ext>
              </a:extLst>
            </p:cNvPr>
            <p:cNvSpPr txBox="1"/>
            <p:nvPr/>
          </p:nvSpPr>
          <p:spPr>
            <a:xfrm>
              <a:off x="12230297" y="7311754"/>
              <a:ext cx="4297394" cy="582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0"/>
                </a:lnSpc>
              </a:pPr>
              <a:r>
                <a:rPr lang="ko-KR" altLang="en-US" sz="3600" b="1" spc="-170" dirty="0">
                  <a:solidFill>
                    <a:srgbClr val="222222"/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시계열</a:t>
              </a:r>
              <a:r>
                <a:rPr lang="ko-KR" altLang="en-US" sz="3600" spc="-170" dirty="0">
                  <a:solidFill>
                    <a:srgbClr val="222222"/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 </a:t>
              </a:r>
              <a:r>
                <a:rPr lang="ko-KR" altLang="en-US" sz="3600" b="1" spc="-170" dirty="0">
                  <a:solidFill>
                    <a:srgbClr val="222222"/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예측</a:t>
              </a:r>
              <a:r>
                <a:rPr lang="ko-KR" altLang="en-US" sz="3600" spc="-170" dirty="0">
                  <a:solidFill>
                    <a:srgbClr val="222222"/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의 단순화</a:t>
              </a:r>
              <a:endParaRPr lang="en-US" sz="3600" spc="-170" dirty="0">
                <a:solidFill>
                  <a:srgbClr val="222222"/>
                </a:solidFill>
                <a:latin typeface="NanumGothic"/>
                <a:ea typeface="NanumGothic"/>
                <a:cs typeface="NanumGothic"/>
                <a:sym typeface="Nanum Gothic"/>
              </a:endParaRPr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C13EFEC-4CE7-2ACB-F774-43AFC0DCD31A}"/>
                </a:ext>
              </a:extLst>
            </p:cNvPr>
            <p:cNvSpPr txBox="1"/>
            <p:nvPr/>
          </p:nvSpPr>
          <p:spPr>
            <a:xfrm>
              <a:off x="11898960" y="8061195"/>
              <a:ext cx="4960069" cy="7904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9"/>
                </a:lnSpc>
              </a:pPr>
              <a:r>
                <a:rPr lang="en-US" sz="2400" b="1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ARIMA </a:t>
              </a:r>
              <a:r>
                <a:rPr lang="ko-KR" altLang="en-US" sz="2400" b="1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단일 모델</a:t>
              </a:r>
              <a:r>
                <a:rPr lang="ko-KR" altLang="en-US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로 미래 추세 예측</a:t>
              </a:r>
              <a:r>
                <a:rPr lang="en-US" altLang="ko-KR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,</a:t>
              </a:r>
              <a:br>
                <a:rPr lang="en-US" altLang="ko-KR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</a:br>
              <a:r>
                <a:rPr lang="ko-KR" altLang="en-US" sz="2400" b="1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경향성</a:t>
              </a:r>
              <a:r>
                <a:rPr lang="ko-KR" altLang="en-US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 </a:t>
              </a:r>
              <a:r>
                <a:rPr lang="ko-KR" altLang="en-US" sz="2400" b="1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중심</a:t>
              </a:r>
              <a:r>
                <a:rPr lang="ko-KR" altLang="en-US" sz="2400" spc="-119" dirty="0">
                  <a:solidFill>
                    <a:srgbClr val="222222">
                      <a:alpha val="61961"/>
                    </a:srgbClr>
                  </a:solidFill>
                  <a:latin typeface="NanumGothic"/>
                  <a:ea typeface="NanumGothic"/>
                  <a:cs typeface="NanumGothic"/>
                  <a:sym typeface="Nanum Gothic"/>
                </a:rPr>
                <a:t>의 참고용 예측</a:t>
              </a:r>
              <a:endParaRPr lang="en-US" sz="2400" spc="-119" dirty="0">
                <a:solidFill>
                  <a:srgbClr val="222222">
                    <a:alpha val="61961"/>
                  </a:srgbClr>
                </a:solidFill>
                <a:latin typeface="NanumGothic"/>
                <a:ea typeface="NanumGothic"/>
                <a:cs typeface="NanumGothic"/>
                <a:sym typeface="Nanum Gothic"/>
              </a:endParaRPr>
            </a:p>
          </p:txBody>
        </p:sp>
      </p:grpSp>
      <p:sp>
        <p:nvSpPr>
          <p:cNvPr id="25" name="TextBox 10">
            <a:extLst>
              <a:ext uri="{FF2B5EF4-FFF2-40B4-BE49-F238E27FC236}">
                <a16:creationId xmlns:a16="http://schemas.microsoft.com/office/drawing/2014/main" id="{17AB9133-B297-7AD2-A2AE-5E3321454CAC}"/>
              </a:ext>
            </a:extLst>
          </p:cNvPr>
          <p:cNvSpPr txBox="1"/>
          <p:nvPr/>
        </p:nvSpPr>
        <p:spPr>
          <a:xfrm rot="-18144">
            <a:off x="1493048" y="559824"/>
            <a:ext cx="10012374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195"/>
              </a:lnSpc>
            </a:pPr>
            <a:r>
              <a:rPr lang="ko-KR" altLang="en-US" sz="5600" spc="-309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한계점</a:t>
            </a:r>
            <a:endParaRPr lang="en-US" sz="5600" spc="-309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1C7CC1AE-DC7D-4CD0-EBC4-E50697A91F6D}"/>
              </a:ext>
            </a:extLst>
          </p:cNvPr>
          <p:cNvSpPr txBox="1"/>
          <p:nvPr/>
        </p:nvSpPr>
        <p:spPr>
          <a:xfrm>
            <a:off x="726970" y="708723"/>
            <a:ext cx="1042830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0</a:t>
            </a:r>
            <a:r>
              <a:rPr lang="en-US" altLang="ko-KR" sz="4000" spc="-57" dirty="0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5</a:t>
            </a:r>
            <a:endParaRPr lang="en-US" sz="4000" spc="-57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2208C734-BF81-804F-45FE-60EF25476435}"/>
              </a:ext>
            </a:extLst>
          </p:cNvPr>
          <p:cNvSpPr txBox="1"/>
          <p:nvPr/>
        </p:nvSpPr>
        <p:spPr>
          <a:xfrm>
            <a:off x="3035558" y="5407568"/>
            <a:ext cx="1746894" cy="574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ko-KR" altLang="en-US" sz="100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🔒</a:t>
            </a:r>
            <a:endParaRPr lang="en-US" sz="100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E12F612A-733C-F664-E3D7-B5A9D6070D77}"/>
              </a:ext>
            </a:extLst>
          </p:cNvPr>
          <p:cNvSpPr txBox="1"/>
          <p:nvPr/>
        </p:nvSpPr>
        <p:spPr>
          <a:xfrm>
            <a:off x="8080051" y="5407568"/>
            <a:ext cx="2127894" cy="574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ko-KR" altLang="en-US" sz="100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 📈</a:t>
            </a:r>
            <a:endParaRPr lang="en-US" sz="100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F6CBB646-81F8-A9FA-E67D-D1F469888CFB}"/>
              </a:ext>
            </a:extLst>
          </p:cNvPr>
          <p:cNvSpPr txBox="1"/>
          <p:nvPr/>
        </p:nvSpPr>
        <p:spPr>
          <a:xfrm>
            <a:off x="13792200" y="5407568"/>
            <a:ext cx="1754417" cy="574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0"/>
              </a:lnSpc>
            </a:pPr>
            <a:r>
              <a:rPr lang="ko-KR" altLang="en-US" sz="10000" dirty="0">
                <a:solidFill>
                  <a:schemeClr val="bg1">
                    <a:lumMod val="50000"/>
                  </a:schemeClr>
                </a:solidFill>
                <a:latin typeface="NanumGothic" pitchFamily="2" charset="-127"/>
                <a:ea typeface="NanumGothic" pitchFamily="2" charset="-127"/>
              </a:rPr>
              <a:t>🔎</a:t>
            </a:r>
            <a:endParaRPr lang="en-US" sz="10000" spc="-25" dirty="0">
              <a:solidFill>
                <a:schemeClr val="bg1">
                  <a:lumMod val="50000"/>
                </a:schemeClr>
              </a:solidFill>
              <a:latin typeface="NanumGothic" pitchFamily="2" charset="-127"/>
              <a:ea typeface="NanumGothic" pitchFamily="2" charset="-127"/>
              <a:cs typeface="NanumGothic"/>
              <a:sym typeface="Nanum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39401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7FAE6-D7D6-CDF9-392E-18D006114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FD56BD7-79D1-D964-4A5F-9CCFA22B1196}"/>
              </a:ext>
            </a:extLst>
          </p:cNvPr>
          <p:cNvSpPr/>
          <p:nvPr/>
        </p:nvSpPr>
        <p:spPr>
          <a:xfrm>
            <a:off x="7797893" y="1394627"/>
            <a:ext cx="2692214" cy="2692214"/>
          </a:xfrm>
          <a:custGeom>
            <a:avLst/>
            <a:gdLst/>
            <a:ahLst/>
            <a:cxnLst/>
            <a:rect l="l" t="t" r="r" b="b"/>
            <a:pathLst>
              <a:path w="2692214" h="2692214">
                <a:moveTo>
                  <a:pt x="0" y="0"/>
                </a:moveTo>
                <a:lnTo>
                  <a:pt x="2692214" y="0"/>
                </a:lnTo>
                <a:lnTo>
                  <a:pt x="2692214" y="2692214"/>
                </a:lnTo>
                <a:lnTo>
                  <a:pt x="0" y="2692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3963349-A8C4-BC37-5376-CD12BAE2AA7A}"/>
              </a:ext>
            </a:extLst>
          </p:cNvPr>
          <p:cNvSpPr txBox="1"/>
          <p:nvPr/>
        </p:nvSpPr>
        <p:spPr>
          <a:xfrm rot="-18144">
            <a:off x="4508045" y="4698867"/>
            <a:ext cx="9272752" cy="1284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28"/>
              </a:lnSpc>
            </a:pPr>
            <a:r>
              <a:rPr lang="en-US" sz="8000" spc="-276" dirty="0" err="1">
                <a:solidFill>
                  <a:srgbClr val="468A57"/>
                </a:solidFill>
                <a:latin typeface="NanumGothic"/>
                <a:ea typeface="NanumGothic"/>
                <a:cs typeface="NanumGothic"/>
                <a:sym typeface="Nanum Gothic"/>
              </a:rPr>
              <a:t>경청해주셔서</a:t>
            </a:r>
            <a:endParaRPr lang="en-US" sz="8000" spc="-276" dirty="0">
              <a:solidFill>
                <a:srgbClr val="468A57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05A9FE8-AA8A-1223-73A5-10D1CE13327B}"/>
              </a:ext>
            </a:extLst>
          </p:cNvPr>
          <p:cNvSpPr txBox="1"/>
          <p:nvPr/>
        </p:nvSpPr>
        <p:spPr>
          <a:xfrm rot="-18144">
            <a:off x="4508045" y="5929962"/>
            <a:ext cx="9272752" cy="1284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28"/>
              </a:lnSpc>
            </a:pPr>
            <a:r>
              <a:rPr lang="en-US" sz="8000" spc="-276" dirty="0" err="1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감사합니다</a:t>
            </a:r>
            <a:r>
              <a:rPr lang="en-US" sz="8000" spc="-276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.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552F9C5-A52D-0A3D-1332-3E30A8DD00B4}"/>
              </a:ext>
            </a:extLst>
          </p:cNvPr>
          <p:cNvSpPr txBox="1"/>
          <p:nvPr/>
        </p:nvSpPr>
        <p:spPr>
          <a:xfrm>
            <a:off x="4642770" y="8109437"/>
            <a:ext cx="9002461" cy="290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altLang="ko-KR" sz="1629" spc="-27" dirty="0">
                <a:solidFill>
                  <a:srgbClr val="000000">
                    <a:alpha val="45882"/>
                  </a:srgbClr>
                </a:solidFill>
                <a:latin typeface="NanumGothic"/>
                <a:ea typeface="NanumGothic"/>
                <a:cs typeface="NanumGothic"/>
                <a:sym typeface="Nanum Gothic"/>
              </a:rPr>
              <a:t>STA3115 </a:t>
            </a:r>
            <a:r>
              <a:rPr lang="ko-KR" altLang="en-US" sz="1629" spc="-27" dirty="0">
                <a:solidFill>
                  <a:srgbClr val="000000">
                    <a:alpha val="45882"/>
                  </a:srgbClr>
                </a:solidFill>
                <a:latin typeface="NanumGothic"/>
                <a:ea typeface="NanumGothic"/>
                <a:cs typeface="NanumGothic"/>
                <a:sym typeface="Nanum Gothic"/>
              </a:rPr>
              <a:t>탐색적자료분석 </a:t>
            </a:r>
            <a:r>
              <a:rPr lang="en-US" altLang="ko-KR" sz="1629" spc="-27" dirty="0">
                <a:solidFill>
                  <a:srgbClr val="000000">
                    <a:alpha val="45882"/>
                  </a:srgbClr>
                </a:solidFill>
                <a:latin typeface="NanumGothic"/>
                <a:ea typeface="NanumGothic"/>
                <a:cs typeface="NanumGothic"/>
                <a:sym typeface="Nanum Gothic"/>
              </a:rPr>
              <a:t>Final Project</a:t>
            </a:r>
            <a:endParaRPr lang="en-US" sz="1629" spc="-27" dirty="0">
              <a:solidFill>
                <a:srgbClr val="000000">
                  <a:alpha val="45882"/>
                </a:srgbClr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7CC58A5-31EB-1178-CFC7-D5F36657F50E}"/>
              </a:ext>
            </a:extLst>
          </p:cNvPr>
          <p:cNvSpPr txBox="1"/>
          <p:nvPr/>
        </p:nvSpPr>
        <p:spPr>
          <a:xfrm>
            <a:off x="5667445" y="7635797"/>
            <a:ext cx="7257910" cy="358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</a:pPr>
            <a:r>
              <a:rPr lang="ko-KR" altLang="en-US" sz="2263" spc="-92" dirty="0">
                <a:solidFill>
                  <a:srgbClr val="000000">
                    <a:alpha val="93725"/>
                  </a:srgbClr>
                </a:solidFill>
                <a:latin typeface="NanumGothic"/>
                <a:ea typeface="NanumGothic"/>
                <a:cs typeface="NanumGothic"/>
                <a:sym typeface="Nanum Gothic"/>
              </a:rPr>
              <a:t>건강보험 데이터를 활용한 질병별 의료 현황 및 변화 양상 분석</a:t>
            </a:r>
            <a:endParaRPr lang="en-US" sz="2263" spc="-92" dirty="0">
              <a:solidFill>
                <a:srgbClr val="000000">
                  <a:alpha val="93725"/>
                </a:srgbClr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B0BDAE24-5C05-7C8C-83DF-F10711C9EF59}"/>
              </a:ext>
            </a:extLst>
          </p:cNvPr>
          <p:cNvGrpSpPr/>
          <p:nvPr/>
        </p:nvGrpSpPr>
        <p:grpSpPr>
          <a:xfrm>
            <a:off x="0" y="10144057"/>
            <a:ext cx="18288000" cy="157327"/>
            <a:chOff x="0" y="0"/>
            <a:chExt cx="4816593" cy="41436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C9E379F-614D-CD14-7DE5-1017C0E7FC66}"/>
                </a:ext>
              </a:extLst>
            </p:cNvPr>
            <p:cNvSpPr/>
            <p:nvPr/>
          </p:nvSpPr>
          <p:spPr>
            <a:xfrm>
              <a:off x="0" y="0"/>
              <a:ext cx="4816592" cy="41436"/>
            </a:xfrm>
            <a:custGeom>
              <a:avLst/>
              <a:gdLst/>
              <a:ahLst/>
              <a:cxnLst/>
              <a:rect l="l" t="t" r="r" b="b"/>
              <a:pathLst>
                <a:path w="4816592" h="41436">
                  <a:moveTo>
                    <a:pt x="0" y="0"/>
                  </a:moveTo>
                  <a:lnTo>
                    <a:pt x="4816592" y="0"/>
                  </a:lnTo>
                  <a:lnTo>
                    <a:pt x="4816592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94A4AD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524BC7E-7AEB-762D-56D6-72B6B30901E4}"/>
                </a:ext>
              </a:extLst>
            </p:cNvPr>
            <p:cNvSpPr txBox="1"/>
            <p:nvPr/>
          </p:nvSpPr>
          <p:spPr>
            <a:xfrm>
              <a:off x="0" y="-38100"/>
              <a:ext cx="4816593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9D87A77-00D9-E765-8A3F-032122E5C3FB}"/>
              </a:ext>
            </a:extLst>
          </p:cNvPr>
          <p:cNvGrpSpPr/>
          <p:nvPr/>
        </p:nvGrpSpPr>
        <p:grpSpPr>
          <a:xfrm>
            <a:off x="0" y="10144057"/>
            <a:ext cx="9296400" cy="157327"/>
            <a:chOff x="0" y="0"/>
            <a:chExt cx="2448435" cy="4143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3A27A66-F6DC-9394-9AAF-41403B452CF9}"/>
                </a:ext>
              </a:extLst>
            </p:cNvPr>
            <p:cNvSpPr/>
            <p:nvPr/>
          </p:nvSpPr>
          <p:spPr>
            <a:xfrm>
              <a:off x="0" y="0"/>
              <a:ext cx="2448435" cy="41436"/>
            </a:xfrm>
            <a:custGeom>
              <a:avLst/>
              <a:gdLst/>
              <a:ahLst/>
              <a:cxnLst/>
              <a:rect l="l" t="t" r="r" b="b"/>
              <a:pathLst>
                <a:path w="2448435" h="41436">
                  <a:moveTo>
                    <a:pt x="0" y="0"/>
                  </a:moveTo>
                  <a:lnTo>
                    <a:pt x="2448435" y="0"/>
                  </a:lnTo>
                  <a:lnTo>
                    <a:pt x="2448435" y="41436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468A57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BBF2085-5A00-E56D-5D86-8C79635F0B24}"/>
                </a:ext>
              </a:extLst>
            </p:cNvPr>
            <p:cNvSpPr txBox="1"/>
            <p:nvPr/>
          </p:nvSpPr>
          <p:spPr>
            <a:xfrm>
              <a:off x="0" y="-38100"/>
              <a:ext cx="2448435" cy="7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57C8E43E-22B1-999C-24E4-146FD7D7AE5B}"/>
              </a:ext>
            </a:extLst>
          </p:cNvPr>
          <p:cNvSpPr/>
          <p:nvPr/>
        </p:nvSpPr>
        <p:spPr>
          <a:xfrm rot="-5400000">
            <a:off x="17559576" y="395641"/>
            <a:ext cx="71874" cy="319441"/>
          </a:xfrm>
          <a:custGeom>
            <a:avLst/>
            <a:gdLst/>
            <a:ahLst/>
            <a:cxnLst/>
            <a:rect l="l" t="t" r="r" b="b"/>
            <a:pathLst>
              <a:path w="71874" h="319441">
                <a:moveTo>
                  <a:pt x="0" y="0"/>
                </a:moveTo>
                <a:lnTo>
                  <a:pt x="71874" y="0"/>
                </a:lnTo>
                <a:lnTo>
                  <a:pt x="71874" y="319441"/>
                </a:lnTo>
                <a:lnTo>
                  <a:pt x="0" y="319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490718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838</Words>
  <Application>Microsoft Macintosh PowerPoint</Application>
  <PresentationFormat>사용자 지정</PresentationFormat>
  <Paragraphs>209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NanumGothic</vt:lpstr>
      <vt:lpstr>Noto Sans Kr</vt:lpstr>
      <vt:lpstr>Arial</vt:lpstr>
      <vt:lpstr>Calibri</vt:lpstr>
      <vt:lpstr>Aptos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final project</dc:title>
  <cp:lastModifiedBy>박지은</cp:lastModifiedBy>
  <cp:revision>5</cp:revision>
  <dcterms:created xsi:type="dcterms:W3CDTF">2006-08-16T00:00:00Z</dcterms:created>
  <dcterms:modified xsi:type="dcterms:W3CDTF">2025-12-07T13:32:39Z</dcterms:modified>
  <dc:identifier>DAG513bEc9w</dc:identifier>
</cp:coreProperties>
</file>